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Calibri"/>
              </a:defRPr>
            </a:pPr>
            <a:r>
              <a:rPr sz="1200" b="0" i="0" u="none" strike="noStrike">
                <a:solidFill>
                  <a:srgbClr val="1E2761"/>
                </a:solidFill>
                <a:latin typeface="Calibri"/>
              </a:rPr>
              <a:t>SPY — cumulative proxy payoff by candidate window</a:t>
            </a:r>
          </a:p>
        </c:rich>
      </c:tx>
      <c:layout/>
      <c:overlay val="0"/>
    </c:title>
    <c:autoTitleDeleted val="0"/>
    <c:plotArea>
      <c:layout/>
      <c:barChart>
        <c:barDir val="col"/>
        <c:grouping val="clustered"/>
        <c:varyColors val="0"/>
        <c:ser>
          <c:idx val="0"/>
          <c:order val="0"/>
          <c:tx>
            <c:strRef>
              <c:f>Sheet1!$B$1</c:f>
              <c:strCache>
                <c:ptCount val="1"/>
                <c:pt idx="0">
                  <c:v>Cumulative proxy payoff</c:v>
                </c:pt>
              </c:strCache>
            </c:strRef>
          </c:tx>
          <c:spPr>
            <a:solidFill>
              <a:srgbClr val="0F766E"/>
            </a:solidFill>
            <a:ln w="9525" cap="flat">
              <a:solidFill>
                <a:srgbClr val="0F766E"/>
              </a:solidFill>
              <a:prstDash val="solid"/>
              <a:round/>
            </a:ln>
            <a:effectLst/>
          </c:spPr>
          <c:invertIfNegative val="0"/>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dPt>
            <c:idx val="0"/>
            <c:invertIfNegative val="0"/>
            <c:bubble3D val="0"/>
            <c:spPr>
              <a:solidFill>
                <a:srgbClr val="0F766E"/>
              </a:solidFill>
              <a:effectLst/>
            </c:spPr>
          </c:dPt>
          <c:dPt>
            <c:idx val="1"/>
            <c:invertIfNegative val="0"/>
            <c:bubble3D val="0"/>
            <c:spPr>
              <a:solidFill>
                <a:srgbClr val="B91C1C"/>
              </a:solidFill>
              <a:effectLst/>
            </c:spPr>
          </c:dPt>
          <c:dPt>
            <c:idx val="2"/>
            <c:invertIfNegative val="0"/>
            <c:bubble3D val="0"/>
            <c:spPr>
              <a:solidFill>
                <a:srgbClr val="B91C1C"/>
              </a:solidFill>
              <a:effectLst/>
            </c:spPr>
          </c:dPt>
          <c:dPt>
            <c:idx val="3"/>
            <c:invertIfNegative val="0"/>
            <c:bubble3D val="0"/>
            <c:spPr>
              <a:solidFill>
                <a:srgbClr val="B91C1C"/>
              </a:solidFill>
              <a:effectLst/>
            </c:spPr>
          </c:dPt>
          <c:dPt>
            <c:idx val="4"/>
            <c:invertIfNegative val="0"/>
            <c:bubble3D val="0"/>
            <c:spPr>
              <a:solidFill>
                <a:srgbClr val="B91C1C"/>
              </a:solidFill>
              <a:effectLst/>
            </c:spPr>
          </c:dPt>
          <c:cat>
            <c:multiLvlStrRef>
              <c:f>Sheet1!$A$2:$A$6</c:f>
              <c:multiLvlStrCache>
                <c:ptCount val="5"/>
                <c:lvl>
                  <c:pt idx="0">
                    <c:v>10d</c:v>
                  </c:pt>
                  <c:pt idx="1">
                    <c:v>20d</c:v>
                  </c:pt>
                  <c:pt idx="2">
                    <c:v>30d</c:v>
                  </c:pt>
                  <c:pt idx="3">
                    <c:v>60d</c:v>
                  </c:pt>
                  <c:pt idx="4">
                    <c:v>90d</c:v>
                  </c:pt>
                </c:lvl>
              </c:multiLvlStrCache>
            </c:multiLvlStrRef>
          </c:cat>
          <c:val>
            <c:numRef>
              <c:f>Sheet1!$B$2:$B$6</c:f>
              <c:numCache>
                <c:formatCode>General</c:formatCode>
                <c:ptCount val="5"/>
                <c:pt idx="0">
                  <c:v>0.108</c:v>
                </c:pt>
                <c:pt idx="1">
                  <c:v>-0.0341</c:v>
                </c:pt>
                <c:pt idx="2">
                  <c:v>-0.1054</c:v>
                </c:pt>
                <c:pt idx="3">
                  <c:v>-0.0977</c:v>
                </c:pt>
                <c:pt idx="4">
                  <c:v>-0.1406</c:v>
                </c:pt>
              </c:numCache>
            </c:numRef>
          </c:val>
        </c:ser>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1E2761">
              <a:alpha val="60000"/>
            </a:srgbClr>
          </a:solidFill>
          <a:ln/>
        </p:spPr>
      </p:sp>
      <p:sp>
        <p:nvSpPr>
          <p:cNvPr id="3" name="Shape 1"/>
          <p:cNvSpPr/>
          <p:nvPr/>
        </p:nvSpPr>
        <p:spPr>
          <a:xfrm>
            <a:off x="10241280" y="4206240"/>
            <a:ext cx="3840480" cy="3840480"/>
          </a:xfrm>
          <a:prstGeom prst="ellipse">
            <a:avLst/>
          </a:prstGeom>
          <a:solidFill>
            <a:srgbClr val="0F766E">
              <a:alpha val="30000"/>
            </a:srgbClr>
          </a:solidFill>
          <a:ln/>
        </p:spPr>
      </p:sp>
      <p:sp>
        <p:nvSpPr>
          <p:cNvPr id="4" name="Text 2"/>
          <p:cNvSpPr/>
          <p:nvPr/>
        </p:nvSpPr>
        <p:spPr>
          <a:xfrm>
            <a:off x="640080" y="1965960"/>
            <a:ext cx="7315200" cy="36576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ALPACA AI TRADING AGENTS HACKATHON</a:t>
            </a:r>
            <a:endParaRPr lang="en-US" sz="1300" dirty="0"/>
          </a:p>
        </p:txBody>
      </p:sp>
      <p:sp>
        <p:nvSpPr>
          <p:cNvPr id="5" name="Text 3"/>
          <p:cNvSpPr/>
          <p:nvPr/>
        </p:nvSpPr>
        <p:spPr>
          <a:xfrm>
            <a:off x="594360" y="2331720"/>
            <a:ext cx="9601200" cy="146304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Hindsight Alpha</a:t>
            </a:r>
            <a:endParaRPr lang="en-US" sz="6000" dirty="0"/>
          </a:p>
        </p:txBody>
      </p:sp>
      <p:sp>
        <p:nvSpPr>
          <p:cNvPr id="6" name="Text 4"/>
          <p:cNvSpPr/>
          <p:nvPr/>
        </p:nvSpPr>
        <p:spPr>
          <a:xfrm>
            <a:off x="640080" y="3794760"/>
            <a:ext cx="7863840" cy="822960"/>
          </a:xfrm>
          <a:prstGeom prst="rect">
            <a:avLst/>
          </a:prstGeom>
          <a:noFill/>
          <a:ln/>
        </p:spPr>
        <p:txBody>
          <a:bodyPr wrap="square"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An options-trading agent that refuses to trust its own parameter selection until it's checked for hindsight leakage.</a:t>
            </a:r>
            <a:endParaRPr lang="en-US" sz="1700" dirty="0"/>
          </a:p>
        </p:txBody>
      </p:sp>
      <p:sp>
        <p:nvSpPr>
          <p:cNvPr id="7" name="Text 5"/>
          <p:cNvSpPr/>
          <p:nvPr/>
        </p:nvSpPr>
        <p:spPr>
          <a:xfrm>
            <a:off x="640080" y="5989320"/>
            <a:ext cx="9144000" cy="365760"/>
          </a:xfrm>
          <a:prstGeom prst="rect">
            <a:avLst/>
          </a:prstGeom>
          <a:noFill/>
          <a:ln/>
        </p:spPr>
        <p:txBody>
          <a:bodyPr wrap="square" rtlCol="0" anchor="ctr"/>
          <a:lstStyle/>
          <a:p>
            <a:pPr indent="0" marL="0">
              <a:buNone/>
            </a:pPr>
            <a:r>
              <a:rPr lang="en-US" sz="1300" b="1" dirty="0">
                <a:solidFill>
                  <a:srgbClr val="8891C4"/>
                </a:solidFill>
                <a:latin typeface="Calibri" pitchFamily="34" charset="0"/>
                <a:ea typeface="Calibri" pitchFamily="34" charset="-122"/>
                <a:cs typeface="Calibri" pitchFamily="34" charset="-120"/>
              </a:rPr>
              <a:t>Team: </a:t>
            </a:r>
            <a:pPr indent="0" marL="0">
              <a:buNone/>
            </a:pPr>
            <a:r>
              <a:rPr lang="en-US" sz="1300" dirty="0">
                <a:solidFill>
                  <a:srgbClr val="FFFFFF"/>
                </a:solidFill>
                <a:latin typeface="Calibri" pitchFamily="34" charset="0"/>
                <a:ea typeface="Calibri" pitchFamily="34" charset="-122"/>
                <a:cs typeface="Calibri" pitchFamily="34" charset="-120"/>
              </a:rPr>
              <a:t>Hindsight Alpha (solo)     </a:t>
            </a:r>
            <a:pPr indent="0" marL="0">
              <a:buNone/>
            </a:pPr>
            <a:r>
              <a:rPr lang="en-US" sz="1300" b="1" dirty="0">
                <a:solidFill>
                  <a:srgbClr val="8891C4"/>
                </a:solidFill>
                <a:latin typeface="Calibri" pitchFamily="34" charset="0"/>
                <a:ea typeface="Calibri" pitchFamily="34" charset="-122"/>
                <a:cs typeface="Calibri" pitchFamily="34" charset="-120"/>
              </a:rPr>
              <a:t>Repo: </a:t>
            </a:r>
            <a:pPr indent="0" marL="0">
              <a:buNone/>
            </a:pPr>
            <a:r>
              <a:rPr lang="en-US" sz="1300" dirty="0">
                <a:solidFill>
                  <a:srgbClr val="FFFFFF"/>
                </a:solidFill>
                <a:latin typeface="Calibri" pitchFamily="34" charset="0"/>
                <a:ea typeface="Calibri" pitchFamily="34" charset="-122"/>
                <a:cs typeface="Calibri" pitchFamily="34" charset="-120"/>
              </a:rPr>
              <a:t>github.com/s-papy/hindsight-alpha</a:t>
            </a:r>
            <a:endParaRPr lang="en-US" sz="1300" dirty="0"/>
          </a:p>
        </p:txBody>
      </p:sp>
      <p:sp>
        <p:nvSpPr>
          <p:cNvPr id="8" name="Text 6"/>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685800"/>
            <a:ext cx="1051560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A backtest can look validated while silently cheating</a:t>
            </a:r>
            <a:endParaRPr lang="en-US" sz="3200" dirty="0"/>
          </a:p>
        </p:txBody>
      </p:sp>
      <p:sp>
        <p:nvSpPr>
          <p:cNvPr id="4" name="Text 2"/>
          <p:cNvSpPr/>
          <p:nvPr/>
        </p:nvSpPr>
        <p:spPr>
          <a:xfrm>
            <a:off x="548640" y="1600200"/>
            <a:ext cx="6126480" cy="2651760"/>
          </a:xfrm>
          <a:prstGeom prst="rect">
            <a:avLst/>
          </a:prstGeom>
          <a:noFill/>
          <a:ln/>
        </p:spPr>
        <p:txBody>
          <a:bodyPr wrap="square" rtlCol="0" anchor="ctr"/>
          <a:lstStyle/>
          <a:p>
            <a:pPr indent="0" marL="0">
              <a:lnSpc>
                <a:spcPct val="125000"/>
              </a:lnSpc>
              <a:buNone/>
            </a:pPr>
            <a:r>
              <a:rPr lang="en-US" sz="1500" dirty="0">
                <a:solidFill>
                  <a:srgbClr val="1F2937"/>
                </a:solidFill>
                <a:latin typeface="Calibri" pitchFamily="34" charset="0"/>
                <a:ea typeface="Calibri" pitchFamily="34" charset="-122"/>
                <a:cs typeface="Calibri" pitchFamily="34" charset="-120"/>
              </a:rPr>
              <a:t>Most agents sweep candidate parameters, score each against historical data, and trade whichever scored best. If the scoring window secretly includes data that wasn't yet knowable at decision time, the “winner” only wins in hindsight — live performance won't match. Nothing in the code looks broken. The number is real. It just isn't measuring what it claims to.</a:t>
            </a:r>
            <a:endParaRPr lang="en-US" sz="1500" dirty="0"/>
          </a:p>
        </p:txBody>
      </p:sp>
      <p:sp>
        <p:nvSpPr>
          <p:cNvPr id="5" name="Text 3"/>
          <p:cNvSpPr/>
          <p:nvPr/>
        </p:nvSpPr>
        <p:spPr>
          <a:xfrm>
            <a:off x="548640" y="4434840"/>
            <a:ext cx="2743200" cy="320040"/>
          </a:xfrm>
          <a:prstGeom prst="rect">
            <a:avLst/>
          </a:prstGeom>
          <a:noFill/>
          <a:ln/>
        </p:spPr>
        <p:txBody>
          <a:bodyPr wrap="square"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Origin</a:t>
            </a:r>
            <a:endParaRPr lang="en-US" sz="1200" dirty="0"/>
          </a:p>
        </p:txBody>
      </p:sp>
      <p:sp>
        <p:nvSpPr>
          <p:cNvPr id="6" name="Text 4"/>
          <p:cNvSpPr/>
          <p:nvPr/>
        </p:nvSpPr>
        <p:spPr>
          <a:xfrm>
            <a:off x="548640" y="4754880"/>
            <a:ext cx="6126480" cy="1280160"/>
          </a:xfrm>
          <a:prstGeom prst="rect">
            <a:avLst/>
          </a:prstGeom>
          <a:noFill/>
          <a:ln/>
        </p:spPr>
        <p:txBody>
          <a:bodyPr wrap="square" rtlCol="0" anchor="ctr"/>
          <a:lstStyle/>
          <a:p>
            <a:pPr indent="0" marL="0">
              <a:lnSpc>
                <a:spcPct val="120000"/>
              </a:lnSpc>
              <a:buNone/>
            </a:pPr>
            <a:r>
              <a:rPr lang="en-US" sz="1300" i="1" dirty="0">
                <a:solidFill>
                  <a:srgbClr val="6B7280"/>
                </a:solidFill>
                <a:latin typeface="Calibri" pitchFamily="34" charset="0"/>
                <a:ea typeface="Calibri" pitchFamily="34" charset="-122"/>
                <a:cs typeface="Calibri" pitchFamily="34" charset="-120"/>
              </a:rPr>
              <a:t>Found by hand auditing a real trading-strategy backtest: a leverage cap chosen by Sharpe ratio over a period that quietly folded in the holdout window. In-sample-only, every candidate scored negative.</a:t>
            </a:r>
            <a:endParaRPr lang="en-US" sz="1300" dirty="0"/>
          </a:p>
        </p:txBody>
      </p:sp>
      <p:sp>
        <p:nvSpPr>
          <p:cNvPr id="7" name="Shape 5"/>
          <p:cNvSpPr/>
          <p:nvPr/>
        </p:nvSpPr>
        <p:spPr>
          <a:xfrm>
            <a:off x="7086600" y="1600200"/>
            <a:ext cx="4480560" cy="4434840"/>
          </a:xfrm>
          <a:prstGeom prst="roundRect">
            <a:avLst>
              <a:gd name="adj" fmla="val 2474"/>
            </a:avLst>
          </a:prstGeom>
          <a:solidFill>
            <a:srgbClr val="1E2761"/>
          </a:solidFill>
          <a:ln/>
          <a:effectLst>
            <a:outerShdw sx="100000" sy="100000" kx="0" ky="0" algn="bl" rotWithShape="0" blurRad="152400" dist="50800" dir="5400000">
              <a:srgbClr val="1E2761">
                <a:alpha val="25000"/>
              </a:srgbClr>
            </a:outerShdw>
          </a:effectLst>
        </p:spPr>
      </p:sp>
      <p:sp>
        <p:nvSpPr>
          <p:cNvPr id="8" name="Text 6"/>
          <p:cNvSpPr/>
          <p:nvPr/>
        </p:nvSpPr>
        <p:spPr>
          <a:xfrm>
            <a:off x="7406640" y="1920240"/>
            <a:ext cx="3840480" cy="320040"/>
          </a:xfrm>
          <a:prstGeom prst="rect">
            <a:avLst/>
          </a:prstGeom>
          <a:noFill/>
          <a:ln/>
        </p:spPr>
        <p:txBody>
          <a:bodyPr wrap="square" rtlCol="0" anchor="ctr"/>
          <a:lstStyle/>
          <a:p>
            <a:pPr indent="0" marL="0">
              <a:buNone/>
            </a:pPr>
            <a:r>
              <a:rPr lang="en-US" sz="1100" b="1" spc="100" kern="0" dirty="0">
                <a:solidFill>
                  <a:srgbClr val="02C39A"/>
                </a:solidFill>
                <a:latin typeface="Calibri" pitchFamily="34" charset="0"/>
                <a:ea typeface="Calibri" pitchFamily="34" charset="-122"/>
                <a:cs typeface="Calibri" pitchFamily="34" charset="-120"/>
              </a:rPr>
              <a:t>HINDSIGHT LEAKAGE, IN ONE PICTURE (XLK, MEASURED)</a:t>
            </a:r>
            <a:endParaRPr lang="en-US" sz="1100" dirty="0"/>
          </a:p>
        </p:txBody>
      </p:sp>
      <p:sp>
        <p:nvSpPr>
          <p:cNvPr id="9" name="Text 7"/>
          <p:cNvSpPr/>
          <p:nvPr/>
        </p:nvSpPr>
        <p:spPr>
          <a:xfrm>
            <a:off x="7406640" y="2468880"/>
            <a:ext cx="3840480" cy="32004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Score on FULL history</a:t>
            </a:r>
            <a:endParaRPr lang="en-US" sz="1300" dirty="0"/>
          </a:p>
        </p:txBody>
      </p:sp>
      <p:sp>
        <p:nvSpPr>
          <p:cNvPr id="10" name="Shape 8"/>
          <p:cNvSpPr/>
          <p:nvPr/>
        </p:nvSpPr>
        <p:spPr>
          <a:xfrm>
            <a:off x="7406640" y="2788920"/>
            <a:ext cx="3749040" cy="457200"/>
          </a:xfrm>
          <a:prstGeom prst="roundRect">
            <a:avLst>
              <a:gd name="adj" fmla="val 12000"/>
            </a:avLst>
          </a:prstGeom>
          <a:solidFill>
            <a:srgbClr val="02C39A"/>
          </a:solidFill>
          <a:ln/>
        </p:spPr>
      </p:sp>
      <p:sp>
        <p:nvSpPr>
          <p:cNvPr id="11" name="Text 9"/>
          <p:cNvSpPr/>
          <p:nvPr/>
        </p:nvSpPr>
        <p:spPr>
          <a:xfrm>
            <a:off x="7406640" y="2788920"/>
            <a:ext cx="3749040" cy="457200"/>
          </a:xfrm>
          <a:prstGeom prst="rect">
            <a:avLst/>
          </a:prstGeom>
          <a:noFill/>
          <a:ln/>
        </p:spPr>
        <p:txBody>
          <a:bodyPr wrap="square" rtlCol="0" anchor="ctr"/>
          <a:lstStyle/>
          <a:p>
            <a:pPr algn="ctr" indent="0" marL="0">
              <a:buNone/>
            </a:pPr>
            <a:r>
              <a:rPr lang="en-US" sz="1300" b="1" dirty="0">
                <a:solidFill>
                  <a:srgbClr val="141B4D"/>
                </a:solidFill>
                <a:latin typeface="Calibri" pitchFamily="34" charset="0"/>
                <a:ea typeface="Calibri" pitchFamily="34" charset="-122"/>
                <a:cs typeface="Calibri" pitchFamily="34" charset="-120"/>
              </a:rPr>
              <a:t>90-day window wins</a:t>
            </a:r>
            <a:endParaRPr lang="en-US" sz="1300" dirty="0"/>
          </a:p>
        </p:txBody>
      </p:sp>
      <p:sp>
        <p:nvSpPr>
          <p:cNvPr id="12" name="Text 10"/>
          <p:cNvSpPr/>
          <p:nvPr/>
        </p:nvSpPr>
        <p:spPr>
          <a:xfrm>
            <a:off x="7406640" y="3520440"/>
            <a:ext cx="3840480" cy="50292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Score on IN-SAMPLE only</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(holdout removed)</a:t>
            </a:r>
            <a:endParaRPr lang="en-US" sz="1300" dirty="0"/>
          </a:p>
        </p:txBody>
      </p:sp>
      <p:sp>
        <p:nvSpPr>
          <p:cNvPr id="13" name="Shape 11"/>
          <p:cNvSpPr/>
          <p:nvPr/>
        </p:nvSpPr>
        <p:spPr>
          <a:xfrm>
            <a:off x="7406640" y="4114800"/>
            <a:ext cx="3749040" cy="457200"/>
          </a:xfrm>
          <a:prstGeom prst="roundRect">
            <a:avLst>
              <a:gd name="adj" fmla="val 12000"/>
            </a:avLst>
          </a:prstGeom>
          <a:solidFill>
            <a:srgbClr val="B91C1C"/>
          </a:solidFill>
          <a:ln/>
        </p:spPr>
      </p:sp>
      <p:sp>
        <p:nvSpPr>
          <p:cNvPr id="14" name="Text 12"/>
          <p:cNvSpPr/>
          <p:nvPr/>
        </p:nvSpPr>
        <p:spPr>
          <a:xfrm>
            <a:off x="7406640" y="4114800"/>
            <a:ext cx="374904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10-day window wins instead</a:t>
            </a:r>
            <a:endParaRPr lang="en-US" sz="1300" dirty="0"/>
          </a:p>
        </p:txBody>
      </p:sp>
      <p:sp>
        <p:nvSpPr>
          <p:cNvPr id="15" name="Text 13"/>
          <p:cNvSpPr/>
          <p:nvPr/>
        </p:nvSpPr>
        <p:spPr>
          <a:xfrm>
            <a:off x="7406640" y="4846320"/>
            <a:ext cx="3840480" cy="1005840"/>
          </a:xfrm>
          <a:prstGeom prst="rect">
            <a:avLst/>
          </a:prstGeom>
          <a:noFill/>
          <a:ln/>
        </p:spPr>
        <p:txBody>
          <a:bodyPr wrap="square" rtlCol="0" anchor="ctr"/>
          <a:lstStyle/>
          <a:p>
            <a:pPr indent="0" marL="0">
              <a:lnSpc>
                <a:spcPct val="120000"/>
              </a:lnSpc>
              <a:buNone/>
            </a:pPr>
            <a:r>
              <a:rPr lang="en-US" sz="1250" i="1" dirty="0">
                <a:solidFill>
                  <a:srgbClr val="AAB4E8"/>
                </a:solidFill>
                <a:latin typeface="Calibri" pitchFamily="34" charset="0"/>
                <a:ea typeface="Calibri" pitchFamily="34" charset="-122"/>
                <a:cs typeface="Calibri" pitchFamily="34" charset="-120"/>
              </a:rPr>
              <a:t>Disagreement = leak detected → the agent refuses to trade on that parameter, and says why.</a:t>
            </a:r>
            <a:endParaRPr lang="en-US" sz="1250" dirty="0"/>
          </a:p>
        </p:txBody>
      </p:sp>
      <p:sp>
        <p:nvSpPr>
          <p:cNvPr id="16" name="Text 14"/>
          <p:cNvSpPr/>
          <p:nvPr/>
        </p:nvSpPr>
        <p:spPr>
          <a:xfrm>
            <a:off x="548640" y="6446520"/>
            <a:ext cx="54864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Hindsight Alpha  ·  Alpaca AI Trading Agents Hackathon</a:t>
            </a:r>
            <a:endParaRPr lang="en-US" sz="1000" dirty="0"/>
          </a:p>
        </p:txBody>
      </p:sp>
      <p:sp>
        <p:nvSpPr>
          <p:cNvPr id="17" name="Text 15"/>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WHY THIS ANGLE IS RARE</a:t>
            </a:r>
            <a:endParaRPr lang="en-US" sz="1200" dirty="0"/>
          </a:p>
        </p:txBody>
      </p:sp>
      <p:sp>
        <p:nvSpPr>
          <p:cNvPr id="3" name="Text 1"/>
          <p:cNvSpPr/>
          <p:nvPr/>
        </p:nvSpPr>
        <p:spPr>
          <a:xfrm>
            <a:off x="548640" y="685800"/>
            <a:ext cx="1051560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Verified against the field, not assumed</a:t>
            </a:r>
            <a:endParaRPr lang="en-US" sz="3200" dirty="0"/>
          </a:p>
        </p:txBody>
      </p:sp>
      <p:sp>
        <p:nvSpPr>
          <p:cNvPr id="4" name="Shape 2"/>
          <p:cNvSpPr/>
          <p:nvPr/>
        </p:nvSpPr>
        <p:spPr>
          <a:xfrm>
            <a:off x="548640" y="1691640"/>
            <a:ext cx="1417320" cy="1051560"/>
          </a:xfrm>
          <a:prstGeom prst="roundRect">
            <a:avLst>
              <a:gd name="adj" fmla="val 8696"/>
            </a:avLst>
          </a:prstGeom>
          <a:solidFill>
            <a:srgbClr val="F4F6FB"/>
          </a:solidFill>
          <a:ln w="15875">
            <a:solidFill>
              <a:srgbClr val="0F766E"/>
            </a:solidFill>
            <a:prstDash val="solid"/>
          </a:ln>
        </p:spPr>
      </p:sp>
      <p:sp>
        <p:nvSpPr>
          <p:cNvPr id="5" name="Text 3"/>
          <p:cNvSpPr/>
          <p:nvPr/>
        </p:nvSpPr>
        <p:spPr>
          <a:xfrm>
            <a:off x="548640" y="1691640"/>
            <a:ext cx="1417320" cy="1051560"/>
          </a:xfrm>
          <a:prstGeom prst="rect">
            <a:avLst/>
          </a:prstGeom>
          <a:noFill/>
          <a:ln/>
        </p:spPr>
        <p:txBody>
          <a:bodyPr wrap="square" rtlCol="0" anchor="ctr"/>
          <a:lstStyle/>
          <a:p>
            <a:pPr algn="ctr" indent="0" marL="0">
              <a:buNone/>
            </a:pPr>
            <a:r>
              <a:rPr lang="en-US" sz="3000" b="1" dirty="0">
                <a:solidFill>
                  <a:srgbClr val="0F766E"/>
                </a:solidFill>
                <a:latin typeface="Cambria" pitchFamily="34" charset="0"/>
                <a:ea typeface="Cambria" pitchFamily="34" charset="-122"/>
                <a:cs typeface="Cambria" pitchFamily="34" charset="-120"/>
              </a:rPr>
              <a:t>546</a:t>
            </a:r>
            <a:endParaRPr lang="en-US" sz="3000" dirty="0"/>
          </a:p>
        </p:txBody>
      </p:sp>
      <p:sp>
        <p:nvSpPr>
          <p:cNvPr id="6" name="Text 4"/>
          <p:cNvSpPr/>
          <p:nvPr/>
        </p:nvSpPr>
        <p:spPr>
          <a:xfrm>
            <a:off x="2194560" y="1764792"/>
            <a:ext cx="9326880" cy="914400"/>
          </a:xfrm>
          <a:prstGeom prst="rect">
            <a:avLst/>
          </a:prstGeom>
          <a:noFill/>
          <a:ln/>
        </p:spPr>
        <p:txBody>
          <a:bodyPr wrap="square" rtlCol="0" anchor="ctr"/>
          <a:lstStyle/>
          <a:p>
            <a:pPr indent="0" marL="0">
              <a:lnSpc>
                <a:spcPct val="115000"/>
              </a:lnSpc>
              <a:buNone/>
            </a:pPr>
            <a:r>
              <a:rPr lang="en-US" sz="1400" dirty="0">
                <a:solidFill>
                  <a:srgbClr val="1F2937"/>
                </a:solidFill>
                <a:latin typeface="Calibri" pitchFamily="34" charset="0"/>
                <a:ea typeface="Calibri" pitchFamily="34" charset="-122"/>
                <a:cs typeface="Calibri" pitchFamily="34" charset="-120"/>
              </a:rPr>
              <a:t>teams registered for this hackathon at time of check — but a prior lablab event with the same format saw only 17% of registered teams reach a final submission.</a:t>
            </a:r>
            <a:endParaRPr lang="en-US" sz="1400" dirty="0"/>
          </a:p>
        </p:txBody>
      </p:sp>
      <p:sp>
        <p:nvSpPr>
          <p:cNvPr id="7" name="Shape 5"/>
          <p:cNvSpPr/>
          <p:nvPr/>
        </p:nvSpPr>
        <p:spPr>
          <a:xfrm>
            <a:off x="548640" y="3017520"/>
            <a:ext cx="1417320" cy="1051560"/>
          </a:xfrm>
          <a:prstGeom prst="roundRect">
            <a:avLst>
              <a:gd name="adj" fmla="val 8696"/>
            </a:avLst>
          </a:prstGeom>
          <a:solidFill>
            <a:srgbClr val="F4F6FB"/>
          </a:solidFill>
          <a:ln w="15875">
            <a:solidFill>
              <a:srgbClr val="0F766E"/>
            </a:solidFill>
            <a:prstDash val="solid"/>
          </a:ln>
        </p:spPr>
      </p:sp>
      <p:sp>
        <p:nvSpPr>
          <p:cNvPr id="8" name="Text 6"/>
          <p:cNvSpPr/>
          <p:nvPr/>
        </p:nvSpPr>
        <p:spPr>
          <a:xfrm>
            <a:off x="548640" y="3017520"/>
            <a:ext cx="1417320" cy="1051560"/>
          </a:xfrm>
          <a:prstGeom prst="rect">
            <a:avLst/>
          </a:prstGeom>
          <a:noFill/>
          <a:ln/>
        </p:spPr>
        <p:txBody>
          <a:bodyPr wrap="square" rtlCol="0" anchor="ctr"/>
          <a:lstStyle/>
          <a:p>
            <a:pPr algn="ctr" indent="0" marL="0">
              <a:buNone/>
            </a:pPr>
            <a:r>
              <a:rPr lang="en-US" sz="3000" b="1" dirty="0">
                <a:solidFill>
                  <a:srgbClr val="0F766E"/>
                </a:solidFill>
                <a:latin typeface="Cambria" pitchFamily="34" charset="0"/>
                <a:ea typeface="Cambria" pitchFamily="34" charset="-122"/>
                <a:cs typeface="Cambria" pitchFamily="34" charset="-120"/>
              </a:rPr>
              <a:t>0</a:t>
            </a:r>
            <a:endParaRPr lang="en-US" sz="3000" dirty="0"/>
          </a:p>
        </p:txBody>
      </p:sp>
      <p:sp>
        <p:nvSpPr>
          <p:cNvPr id="9" name="Text 7"/>
          <p:cNvSpPr/>
          <p:nvPr/>
        </p:nvSpPr>
        <p:spPr>
          <a:xfrm>
            <a:off x="2194560" y="3090672"/>
            <a:ext cx="9326880" cy="914400"/>
          </a:xfrm>
          <a:prstGeom prst="rect">
            <a:avLst/>
          </a:prstGeom>
          <a:noFill/>
          <a:ln/>
        </p:spPr>
        <p:txBody>
          <a:bodyPr wrap="square" rtlCol="0" anchor="ctr"/>
          <a:lstStyle/>
          <a:p>
            <a:pPr indent="0" marL="0">
              <a:lnSpc>
                <a:spcPct val="115000"/>
              </a:lnSpc>
              <a:buNone/>
            </a:pPr>
            <a:r>
              <a:rPr lang="en-US" sz="1400" dirty="0">
                <a:solidFill>
                  <a:srgbClr val="1F2937"/>
                </a:solidFill>
                <a:latin typeface="Calibri" pitchFamily="34" charset="0"/>
                <a:ea typeface="Calibri" pitchFamily="34" charset="-122"/>
                <a:cs typeface="Calibri" pitchFamily="34" charset="-120"/>
              </a:rPr>
              <a:t>competing submissions found (across this event and its predecessor) that falsify their own parameter selection before trading — confidence usually comes from an LLM explaining its own decision, not a statistical test.</a:t>
            </a:r>
            <a:endParaRPr lang="en-US" sz="1400" dirty="0"/>
          </a:p>
        </p:txBody>
      </p:sp>
      <p:sp>
        <p:nvSpPr>
          <p:cNvPr id="10" name="Shape 8"/>
          <p:cNvSpPr/>
          <p:nvPr/>
        </p:nvSpPr>
        <p:spPr>
          <a:xfrm>
            <a:off x="548640" y="4343400"/>
            <a:ext cx="1417320" cy="1051560"/>
          </a:xfrm>
          <a:prstGeom prst="roundRect">
            <a:avLst>
              <a:gd name="adj" fmla="val 8696"/>
            </a:avLst>
          </a:prstGeom>
          <a:solidFill>
            <a:srgbClr val="F4F6FB"/>
          </a:solidFill>
          <a:ln w="15875">
            <a:solidFill>
              <a:srgbClr val="0F766E"/>
            </a:solidFill>
            <a:prstDash val="solid"/>
          </a:ln>
        </p:spPr>
      </p:sp>
      <p:sp>
        <p:nvSpPr>
          <p:cNvPr id="11" name="Text 9"/>
          <p:cNvSpPr/>
          <p:nvPr/>
        </p:nvSpPr>
        <p:spPr>
          <a:xfrm>
            <a:off x="548640" y="4343400"/>
            <a:ext cx="1417320" cy="1051560"/>
          </a:xfrm>
          <a:prstGeom prst="rect">
            <a:avLst/>
          </a:prstGeom>
          <a:noFill/>
          <a:ln/>
        </p:spPr>
        <p:txBody>
          <a:bodyPr wrap="square" rtlCol="0" anchor="ctr"/>
          <a:lstStyle/>
          <a:p>
            <a:pPr algn="ctr" indent="0" marL="0">
              <a:buNone/>
            </a:pPr>
            <a:r>
              <a:rPr lang="en-US" sz="3000" b="1" dirty="0">
                <a:solidFill>
                  <a:srgbClr val="0F766E"/>
                </a:solidFill>
                <a:latin typeface="Cambria" pitchFamily="34" charset="0"/>
                <a:ea typeface="Cambria" pitchFamily="34" charset="-122"/>
                <a:cs typeface="Cambria" pitchFamily="34" charset="-120"/>
              </a:rPr>
              <a:t>3×</a:t>
            </a:r>
            <a:endParaRPr lang="en-US" sz="3000" dirty="0"/>
          </a:p>
        </p:txBody>
      </p:sp>
      <p:sp>
        <p:nvSpPr>
          <p:cNvPr id="12" name="Text 10"/>
          <p:cNvSpPr/>
          <p:nvPr/>
        </p:nvSpPr>
        <p:spPr>
          <a:xfrm>
            <a:off x="2194560" y="4416552"/>
            <a:ext cx="9326880" cy="914400"/>
          </a:xfrm>
          <a:prstGeom prst="rect">
            <a:avLst/>
          </a:prstGeom>
          <a:noFill/>
          <a:ln/>
        </p:spPr>
        <p:txBody>
          <a:bodyPr wrap="square" rtlCol="0" anchor="ctr"/>
          <a:lstStyle/>
          <a:p>
            <a:pPr indent="0" marL="0">
              <a:lnSpc>
                <a:spcPct val="115000"/>
              </a:lnSpc>
              <a:buNone/>
            </a:pPr>
            <a:r>
              <a:rPr lang="en-US" sz="1400" dirty="0">
                <a:solidFill>
                  <a:srgbClr val="1F2937"/>
                </a:solidFill>
                <a:latin typeface="Calibri" pitchFamily="34" charset="0"/>
                <a:ea typeface="Calibri" pitchFamily="34" charset="-122"/>
                <a:cs typeface="Calibri" pitchFamily="34" charset="-120"/>
              </a:rPr>
              <a:t>independent refusal gates stacked before any order: hindsight check → volatility regime → portfolio risk gates — not one signal dressed up as three.</a:t>
            </a:r>
            <a:endParaRPr lang="en-US" sz="1400" dirty="0"/>
          </a:p>
        </p:txBody>
      </p:sp>
      <p:sp>
        <p:nvSpPr>
          <p:cNvPr id="13" name="Text 11"/>
          <p:cNvSpPr/>
          <p:nvPr/>
        </p:nvSpPr>
        <p:spPr>
          <a:xfrm>
            <a:off x="548640" y="5806440"/>
            <a:ext cx="10972800" cy="640080"/>
          </a:xfrm>
          <a:prstGeom prst="rect">
            <a:avLst/>
          </a:prstGeom>
          <a:noFill/>
          <a:ln/>
        </p:spPr>
        <p:txBody>
          <a:bodyPr wrap="square"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A community-voted top submission from the predecessor event was a plain feature list with no strategy detail — presentation and demo clarity matter as much as depth. This deck and the write-up lead with honesty about results, not a headline number.</a:t>
            </a:r>
            <a:endParaRPr lang="en-US" sz="1250" dirty="0"/>
          </a:p>
        </p:txBody>
      </p:sp>
      <p:sp>
        <p:nvSpPr>
          <p:cNvPr id="14" name="Text 12"/>
          <p:cNvSpPr/>
          <p:nvPr/>
        </p:nvSpPr>
        <p:spPr>
          <a:xfrm>
            <a:off x="548640" y="6446520"/>
            <a:ext cx="54864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Hindsight Alpha  ·  Alpaca AI Trading Agents Hackathon</a:t>
            </a:r>
            <a:endParaRPr lang="en-US" sz="1000" dirty="0"/>
          </a:p>
        </p:txBody>
      </p:sp>
      <p:sp>
        <p:nvSpPr>
          <p:cNvPr id="15" name="Text 13"/>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AI LOGIC</a:t>
            </a:r>
            <a:endParaRPr lang="en-US" sz="1200" dirty="0"/>
          </a:p>
        </p:txBody>
      </p:sp>
      <p:sp>
        <p:nvSpPr>
          <p:cNvPr id="3" name="Text 1"/>
          <p:cNvSpPr/>
          <p:nvPr/>
        </p:nvSpPr>
        <p:spPr>
          <a:xfrm>
            <a:off x="548640" y="685800"/>
            <a:ext cx="1051560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Five steps, every symbol, every cycle — and no LLM in the loop, by design</a:t>
            </a:r>
            <a:endParaRPr lang="en-US" sz="3200" dirty="0"/>
          </a:p>
        </p:txBody>
      </p:sp>
      <p:sp>
        <p:nvSpPr>
          <p:cNvPr id="4" name="Shape 2"/>
          <p:cNvSpPr/>
          <p:nvPr/>
        </p:nvSpPr>
        <p:spPr>
          <a:xfrm>
            <a:off x="548640" y="1828800"/>
            <a:ext cx="2121408" cy="3200400"/>
          </a:xfrm>
          <a:prstGeom prst="roundRect">
            <a:avLst>
              <a:gd name="adj" fmla="val 4310"/>
            </a:avLst>
          </a:prstGeom>
          <a:solidFill>
            <a:srgbClr val="F4F6FB"/>
          </a:solidFill>
          <a:ln/>
          <a:effectLst>
            <a:outerShdw sx="100000" sy="100000" kx="0" ky="0" algn="bl" rotWithShape="0" blurRad="101600" dist="38100" dir="5400000">
              <a:srgbClr val="1F2937">
                <a:alpha val="12000"/>
              </a:srgbClr>
            </a:outerShdw>
          </a:effectLst>
        </p:spPr>
      </p:sp>
      <p:sp>
        <p:nvSpPr>
          <p:cNvPr id="5" name="Shape 3"/>
          <p:cNvSpPr/>
          <p:nvPr/>
        </p:nvSpPr>
        <p:spPr>
          <a:xfrm>
            <a:off x="1316736" y="2103120"/>
            <a:ext cx="585216" cy="585216"/>
          </a:xfrm>
          <a:prstGeom prst="ellipse">
            <a:avLst/>
          </a:prstGeom>
          <a:solidFill>
            <a:srgbClr val="0F766E"/>
          </a:solidFill>
          <a:ln/>
        </p:spPr>
      </p:sp>
      <p:sp>
        <p:nvSpPr>
          <p:cNvPr id="6" name="Text 4"/>
          <p:cNvSpPr/>
          <p:nvPr/>
        </p:nvSpPr>
        <p:spPr>
          <a:xfrm>
            <a:off x="1316736" y="2103120"/>
            <a:ext cx="585216" cy="585216"/>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658368" y="2834640"/>
            <a:ext cx="1901952" cy="50292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Fetch bars</a:t>
            </a:r>
            <a:endParaRPr lang="en-US" sz="1400" dirty="0"/>
          </a:p>
        </p:txBody>
      </p:sp>
      <p:sp>
        <p:nvSpPr>
          <p:cNvPr id="8" name="Text 6"/>
          <p:cNvSpPr/>
          <p:nvPr/>
        </p:nvSpPr>
        <p:spPr>
          <a:xfrm>
            <a:off x="685800" y="3337560"/>
            <a:ext cx="1847088" cy="1600200"/>
          </a:xfrm>
          <a:prstGeom prst="rect">
            <a:avLst/>
          </a:prstGeom>
          <a:noFill/>
          <a:ln/>
        </p:spPr>
        <p:txBody>
          <a:bodyPr wrap="square" rtlCol="0" anchor="ctr"/>
          <a:lstStyle/>
          <a:p>
            <a:pPr algn="ctr" indent="0" marL="0">
              <a:lnSpc>
                <a:spcPct val="120000"/>
              </a:lnSpc>
              <a:buNone/>
            </a:pPr>
            <a:r>
              <a:rPr lang="en-US" sz="1150" dirty="0">
                <a:solidFill>
                  <a:srgbClr val="6B7280"/>
                </a:solidFill>
                <a:latin typeface="Calibri" pitchFamily="34" charset="0"/>
                <a:ea typeface="Calibri" pitchFamily="34" charset="-122"/>
                <a:cs typeface="Calibri" pitchFamily="34" charset="-120"/>
              </a:rPr>
              <a:t>Daily closes for SPY, GLD, XLK, XLV via Alpaca's Market Data API.</a:t>
            </a:r>
            <a:endParaRPr lang="en-US" sz="1150" dirty="0"/>
          </a:p>
        </p:txBody>
      </p:sp>
      <p:sp>
        <p:nvSpPr>
          <p:cNvPr id="9" name="Text 7"/>
          <p:cNvSpPr/>
          <p:nvPr/>
        </p:nvSpPr>
        <p:spPr>
          <a:xfrm>
            <a:off x="2670048" y="3154680"/>
            <a:ext cx="128016" cy="548640"/>
          </a:xfrm>
          <a:prstGeom prst="rect">
            <a:avLst/>
          </a:prstGeom>
          <a:noFill/>
          <a:ln/>
        </p:spPr>
        <p:txBody>
          <a:bodyPr wrap="square" rtlCol="0" anchor="ctr"/>
          <a:lstStyle/>
          <a:p>
            <a:pPr algn="ctr" indent="0" marL="0">
              <a:buNone/>
            </a:pPr>
            <a:r>
              <a:rPr lang="en-US" sz="1800" b="1" dirty="0">
                <a:solidFill>
                  <a:srgbClr val="0F766E"/>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2798064" y="1828800"/>
            <a:ext cx="2121408" cy="3200400"/>
          </a:xfrm>
          <a:prstGeom prst="roundRect">
            <a:avLst>
              <a:gd name="adj" fmla="val 4310"/>
            </a:avLst>
          </a:prstGeom>
          <a:solidFill>
            <a:srgbClr val="F4F6FB"/>
          </a:solidFill>
          <a:ln/>
          <a:effectLst>
            <a:outerShdw sx="100000" sy="100000" kx="0" ky="0" algn="bl" rotWithShape="0" blurRad="101600" dist="38100" dir="5400000">
              <a:srgbClr val="1F2937">
                <a:alpha val="12000"/>
              </a:srgbClr>
            </a:outerShdw>
          </a:effectLst>
        </p:spPr>
      </p:sp>
      <p:sp>
        <p:nvSpPr>
          <p:cNvPr id="11" name="Shape 9"/>
          <p:cNvSpPr/>
          <p:nvPr/>
        </p:nvSpPr>
        <p:spPr>
          <a:xfrm>
            <a:off x="3566160" y="2103120"/>
            <a:ext cx="585216" cy="585216"/>
          </a:xfrm>
          <a:prstGeom prst="ellipse">
            <a:avLst/>
          </a:prstGeom>
          <a:solidFill>
            <a:srgbClr val="0F766E"/>
          </a:solidFill>
          <a:ln/>
        </p:spPr>
      </p:sp>
      <p:sp>
        <p:nvSpPr>
          <p:cNvPr id="12" name="Text 10"/>
          <p:cNvSpPr/>
          <p:nvPr/>
        </p:nvSpPr>
        <p:spPr>
          <a:xfrm>
            <a:off x="3566160" y="2103120"/>
            <a:ext cx="585216" cy="585216"/>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2907792" y="2834640"/>
            <a:ext cx="1901952" cy="50292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Sweep 5 windows</a:t>
            </a:r>
            <a:endParaRPr lang="en-US" sz="1400" dirty="0"/>
          </a:p>
        </p:txBody>
      </p:sp>
      <p:sp>
        <p:nvSpPr>
          <p:cNvPr id="14" name="Text 12"/>
          <p:cNvSpPr/>
          <p:nvPr/>
        </p:nvSpPr>
        <p:spPr>
          <a:xfrm>
            <a:off x="2935224" y="3337560"/>
            <a:ext cx="1847088" cy="1600200"/>
          </a:xfrm>
          <a:prstGeom prst="rect">
            <a:avLst/>
          </a:prstGeom>
          <a:noFill/>
          <a:ln/>
        </p:spPr>
        <p:txBody>
          <a:bodyPr wrap="square" rtlCol="0" anchor="ctr"/>
          <a:lstStyle/>
          <a:p>
            <a:pPr algn="ctr" indent="0" marL="0">
              <a:lnSpc>
                <a:spcPct val="120000"/>
              </a:lnSpc>
              <a:buNone/>
            </a:pPr>
            <a:r>
              <a:rPr lang="en-US" sz="1150" dirty="0">
                <a:solidFill>
                  <a:srgbClr val="6B7280"/>
                </a:solidFill>
                <a:latin typeface="Calibri" pitchFamily="34" charset="0"/>
                <a:ea typeface="Calibri" pitchFamily="34" charset="-122"/>
                <a:cs typeface="Calibri" pitchFamily="34" charset="-120"/>
              </a:rPr>
              <a:t>10 / 20 / 30 / 60 / 90-day realized-volatility rank candidates scored.</a:t>
            </a:r>
            <a:endParaRPr lang="en-US" sz="1150" dirty="0"/>
          </a:p>
        </p:txBody>
      </p:sp>
      <p:sp>
        <p:nvSpPr>
          <p:cNvPr id="15" name="Text 13"/>
          <p:cNvSpPr/>
          <p:nvPr/>
        </p:nvSpPr>
        <p:spPr>
          <a:xfrm>
            <a:off x="4919472" y="3154680"/>
            <a:ext cx="128016" cy="548640"/>
          </a:xfrm>
          <a:prstGeom prst="rect">
            <a:avLst/>
          </a:prstGeom>
          <a:noFill/>
          <a:ln/>
        </p:spPr>
        <p:txBody>
          <a:bodyPr wrap="square" rtlCol="0" anchor="ctr"/>
          <a:lstStyle/>
          <a:p>
            <a:pPr algn="ctr" indent="0" marL="0">
              <a:buNone/>
            </a:pPr>
            <a:r>
              <a:rPr lang="en-US" sz="1800" b="1" dirty="0">
                <a:solidFill>
                  <a:srgbClr val="0F766E"/>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5047488" y="1828800"/>
            <a:ext cx="2121408" cy="3200400"/>
          </a:xfrm>
          <a:prstGeom prst="roundRect">
            <a:avLst>
              <a:gd name="adj" fmla="val 4310"/>
            </a:avLst>
          </a:prstGeom>
          <a:solidFill>
            <a:srgbClr val="F4F6FB"/>
          </a:solidFill>
          <a:ln/>
          <a:effectLst>
            <a:outerShdw sx="100000" sy="100000" kx="0" ky="0" algn="bl" rotWithShape="0" blurRad="101600" dist="38100" dir="5400000">
              <a:srgbClr val="1F2937">
                <a:alpha val="12000"/>
              </a:srgbClr>
            </a:outerShdw>
          </a:effectLst>
        </p:spPr>
      </p:sp>
      <p:sp>
        <p:nvSpPr>
          <p:cNvPr id="17" name="Shape 15"/>
          <p:cNvSpPr/>
          <p:nvPr/>
        </p:nvSpPr>
        <p:spPr>
          <a:xfrm>
            <a:off x="5815584" y="2103120"/>
            <a:ext cx="585216" cy="585216"/>
          </a:xfrm>
          <a:prstGeom prst="ellipse">
            <a:avLst/>
          </a:prstGeom>
          <a:solidFill>
            <a:srgbClr val="0F766E"/>
          </a:solidFill>
          <a:ln/>
        </p:spPr>
      </p:sp>
      <p:sp>
        <p:nvSpPr>
          <p:cNvPr id="18" name="Text 16"/>
          <p:cNvSpPr/>
          <p:nvPr/>
        </p:nvSpPr>
        <p:spPr>
          <a:xfrm>
            <a:off x="5815584" y="2103120"/>
            <a:ext cx="585216" cy="585216"/>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Text 17"/>
          <p:cNvSpPr/>
          <p:nvPr/>
        </p:nvSpPr>
        <p:spPr>
          <a:xfrm>
            <a:off x="5157216" y="2834640"/>
            <a:ext cx="1901952" cy="50292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hindsight_guard</a:t>
            </a:r>
            <a:endParaRPr lang="en-US" sz="1400" dirty="0"/>
          </a:p>
        </p:txBody>
      </p:sp>
      <p:sp>
        <p:nvSpPr>
          <p:cNvPr id="20" name="Text 18"/>
          <p:cNvSpPr/>
          <p:nvPr/>
        </p:nvSpPr>
        <p:spPr>
          <a:xfrm>
            <a:off x="5184648" y="3337560"/>
            <a:ext cx="1847088" cy="1600200"/>
          </a:xfrm>
          <a:prstGeom prst="rect">
            <a:avLst/>
          </a:prstGeom>
          <a:noFill/>
          <a:ln/>
        </p:spPr>
        <p:txBody>
          <a:bodyPr wrap="square" rtlCol="0" anchor="ctr"/>
          <a:lstStyle/>
          <a:p>
            <a:pPr algn="ctr" indent="0" marL="0">
              <a:lnSpc>
                <a:spcPct val="120000"/>
              </a:lnSpc>
              <a:buNone/>
            </a:pPr>
            <a:r>
              <a:rPr lang="en-US" sz="1150" dirty="0">
                <a:solidFill>
                  <a:srgbClr val="6B7280"/>
                </a:solidFill>
                <a:latin typeface="Calibri" pitchFamily="34" charset="0"/>
                <a:ea typeface="Calibri" pitchFamily="34" charset="-122"/>
                <a:cs typeface="Calibri" pitchFamily="34" charset="-120"/>
              </a:rPr>
              <a:t>Full-history winner vs. in-sample-only winner — must agree AND clear the Sharpe bar.</a:t>
            </a:r>
            <a:endParaRPr lang="en-US" sz="1150" dirty="0"/>
          </a:p>
        </p:txBody>
      </p:sp>
      <p:sp>
        <p:nvSpPr>
          <p:cNvPr id="21" name="Text 19"/>
          <p:cNvSpPr/>
          <p:nvPr/>
        </p:nvSpPr>
        <p:spPr>
          <a:xfrm>
            <a:off x="7168896" y="3154680"/>
            <a:ext cx="128016" cy="548640"/>
          </a:xfrm>
          <a:prstGeom prst="rect">
            <a:avLst/>
          </a:prstGeom>
          <a:noFill/>
          <a:ln/>
        </p:spPr>
        <p:txBody>
          <a:bodyPr wrap="square" rtlCol="0" anchor="ctr"/>
          <a:lstStyle/>
          <a:p>
            <a:pPr algn="ctr" indent="0" marL="0">
              <a:buNone/>
            </a:pPr>
            <a:r>
              <a:rPr lang="en-US" sz="1800" b="1" dirty="0">
                <a:solidFill>
                  <a:srgbClr val="0F766E"/>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7296912" y="1828800"/>
            <a:ext cx="2121408" cy="3200400"/>
          </a:xfrm>
          <a:prstGeom prst="roundRect">
            <a:avLst>
              <a:gd name="adj" fmla="val 4310"/>
            </a:avLst>
          </a:prstGeom>
          <a:solidFill>
            <a:srgbClr val="F4F6FB"/>
          </a:solidFill>
          <a:ln/>
          <a:effectLst>
            <a:outerShdw sx="100000" sy="100000" kx="0" ky="0" algn="bl" rotWithShape="0" blurRad="101600" dist="38100" dir="5400000">
              <a:srgbClr val="1F2937">
                <a:alpha val="12000"/>
              </a:srgbClr>
            </a:outerShdw>
          </a:effectLst>
        </p:spPr>
      </p:sp>
      <p:sp>
        <p:nvSpPr>
          <p:cNvPr id="23" name="Shape 21"/>
          <p:cNvSpPr/>
          <p:nvPr/>
        </p:nvSpPr>
        <p:spPr>
          <a:xfrm>
            <a:off x="8065008" y="2103120"/>
            <a:ext cx="585216" cy="585216"/>
          </a:xfrm>
          <a:prstGeom prst="ellipse">
            <a:avLst/>
          </a:prstGeom>
          <a:solidFill>
            <a:srgbClr val="0F766E"/>
          </a:solidFill>
          <a:ln/>
        </p:spPr>
      </p:sp>
      <p:sp>
        <p:nvSpPr>
          <p:cNvPr id="24" name="Text 22"/>
          <p:cNvSpPr/>
          <p:nvPr/>
        </p:nvSpPr>
        <p:spPr>
          <a:xfrm>
            <a:off x="8065008" y="2103120"/>
            <a:ext cx="585216" cy="585216"/>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5" name="Text 23"/>
          <p:cNvSpPr/>
          <p:nvPr/>
        </p:nvSpPr>
        <p:spPr>
          <a:xfrm>
            <a:off x="7406640" y="2834640"/>
            <a:ext cx="1901952" cy="50292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Regime check</a:t>
            </a:r>
            <a:endParaRPr lang="en-US" sz="1400" dirty="0"/>
          </a:p>
        </p:txBody>
      </p:sp>
      <p:sp>
        <p:nvSpPr>
          <p:cNvPr id="26" name="Text 24"/>
          <p:cNvSpPr/>
          <p:nvPr/>
        </p:nvSpPr>
        <p:spPr>
          <a:xfrm>
            <a:off x="7434072" y="3337560"/>
            <a:ext cx="1847088" cy="1600200"/>
          </a:xfrm>
          <a:prstGeom prst="rect">
            <a:avLst/>
          </a:prstGeom>
          <a:noFill/>
          <a:ln/>
        </p:spPr>
        <p:txBody>
          <a:bodyPr wrap="square" rtlCol="0" anchor="ctr"/>
          <a:lstStyle/>
          <a:p>
            <a:pPr algn="ctr" indent="0" marL="0">
              <a:lnSpc>
                <a:spcPct val="120000"/>
              </a:lnSpc>
              <a:buNone/>
            </a:pPr>
            <a:r>
              <a:rPr lang="en-US" sz="1150" dirty="0">
                <a:solidFill>
                  <a:srgbClr val="6B7280"/>
                </a:solidFill>
                <a:latin typeface="Calibri" pitchFamily="34" charset="0"/>
                <a:ea typeface="Calibri" pitchFamily="34" charset="-122"/>
                <a:cs typeface="Calibri" pitchFamily="34" charset="-120"/>
              </a:rPr>
              <a:t>If vetted: is today's volatility cheap (&lt; 30th percentile) vs. its own history?</a:t>
            </a:r>
            <a:endParaRPr lang="en-US" sz="1150" dirty="0"/>
          </a:p>
        </p:txBody>
      </p:sp>
      <p:sp>
        <p:nvSpPr>
          <p:cNvPr id="27" name="Text 25"/>
          <p:cNvSpPr/>
          <p:nvPr/>
        </p:nvSpPr>
        <p:spPr>
          <a:xfrm>
            <a:off x="9418320" y="3154680"/>
            <a:ext cx="128016" cy="548640"/>
          </a:xfrm>
          <a:prstGeom prst="rect">
            <a:avLst/>
          </a:prstGeom>
          <a:noFill/>
          <a:ln/>
        </p:spPr>
        <p:txBody>
          <a:bodyPr wrap="square" rtlCol="0" anchor="ctr"/>
          <a:lstStyle/>
          <a:p>
            <a:pPr algn="ctr" indent="0" marL="0">
              <a:buNone/>
            </a:pPr>
            <a:r>
              <a:rPr lang="en-US" sz="1800" b="1" dirty="0">
                <a:solidFill>
                  <a:srgbClr val="0F766E"/>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9546336" y="1828800"/>
            <a:ext cx="2121408" cy="3200400"/>
          </a:xfrm>
          <a:prstGeom prst="roundRect">
            <a:avLst>
              <a:gd name="adj" fmla="val 4310"/>
            </a:avLst>
          </a:prstGeom>
          <a:solidFill>
            <a:srgbClr val="1E2761"/>
          </a:solidFill>
          <a:ln/>
          <a:effectLst>
            <a:outerShdw sx="100000" sy="100000" kx="0" ky="0" algn="bl" rotWithShape="0" blurRad="101600" dist="38100" dir="5400000">
              <a:srgbClr val="1F2937">
                <a:alpha val="12000"/>
              </a:srgbClr>
            </a:outerShdw>
          </a:effectLst>
        </p:spPr>
      </p:sp>
      <p:sp>
        <p:nvSpPr>
          <p:cNvPr id="29" name="Shape 27"/>
          <p:cNvSpPr/>
          <p:nvPr/>
        </p:nvSpPr>
        <p:spPr>
          <a:xfrm>
            <a:off x="10314432" y="2103120"/>
            <a:ext cx="585216" cy="585216"/>
          </a:xfrm>
          <a:prstGeom prst="ellipse">
            <a:avLst/>
          </a:prstGeom>
          <a:solidFill>
            <a:srgbClr val="02C39A"/>
          </a:solidFill>
          <a:ln/>
        </p:spPr>
      </p:sp>
      <p:sp>
        <p:nvSpPr>
          <p:cNvPr id="30" name="Text 28"/>
          <p:cNvSpPr/>
          <p:nvPr/>
        </p:nvSpPr>
        <p:spPr>
          <a:xfrm>
            <a:off x="10314432" y="2103120"/>
            <a:ext cx="585216" cy="585216"/>
          </a:xfrm>
          <a:prstGeom prst="rect">
            <a:avLst/>
          </a:prstGeom>
          <a:noFill/>
          <a:ln/>
        </p:spPr>
        <p:txBody>
          <a:bodyPr wrap="square" rtlCol="0" anchor="ctr"/>
          <a:lstStyle/>
          <a:p>
            <a:pPr algn="ctr" indent="0" marL="0">
              <a:buNone/>
            </a:pPr>
            <a:r>
              <a:rPr lang="en-US" sz="2200" b="1" dirty="0">
                <a:solidFill>
                  <a:srgbClr val="141B4D"/>
                </a:solidFill>
                <a:latin typeface="Cambria" pitchFamily="34" charset="0"/>
                <a:ea typeface="Cambria" pitchFamily="34" charset="-122"/>
                <a:cs typeface="Cambria" pitchFamily="34" charset="-120"/>
              </a:rPr>
              <a:t>5</a:t>
            </a:r>
            <a:endParaRPr lang="en-US" sz="2200" dirty="0"/>
          </a:p>
        </p:txBody>
      </p:sp>
      <p:sp>
        <p:nvSpPr>
          <p:cNvPr id="31" name="Text 29"/>
          <p:cNvSpPr/>
          <p:nvPr/>
        </p:nvSpPr>
        <p:spPr>
          <a:xfrm>
            <a:off x="9656064" y="2834640"/>
            <a:ext cx="1901952"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Trade or refuse</a:t>
            </a:r>
            <a:endParaRPr lang="en-US" sz="1400" dirty="0"/>
          </a:p>
        </p:txBody>
      </p:sp>
      <p:sp>
        <p:nvSpPr>
          <p:cNvPr id="32" name="Text 30"/>
          <p:cNvSpPr/>
          <p:nvPr/>
        </p:nvSpPr>
        <p:spPr>
          <a:xfrm>
            <a:off x="9683496" y="3337560"/>
            <a:ext cx="1847088" cy="1600200"/>
          </a:xfrm>
          <a:prstGeom prst="rect">
            <a:avLst/>
          </a:prstGeom>
          <a:noFill/>
          <a:ln/>
        </p:spPr>
        <p:txBody>
          <a:bodyPr wrap="square" rtlCol="0" anchor="ctr"/>
          <a:lstStyle/>
          <a:p>
            <a:pPr algn="ctr" indent="0" marL="0">
              <a:lnSpc>
                <a:spcPct val="120000"/>
              </a:lnSpc>
              <a:buNone/>
            </a:pPr>
            <a:r>
              <a:rPr lang="en-US" sz="1150" dirty="0">
                <a:solidFill>
                  <a:srgbClr val="CADCFC"/>
                </a:solidFill>
                <a:latin typeface="Calibri" pitchFamily="34" charset="0"/>
                <a:ea typeface="Calibri" pitchFamily="34" charset="-122"/>
                <a:cs typeface="Calibri" pitchFamily="34" charset="-120"/>
              </a:rPr>
              <a:t>Momentum tiebreak picks call/put; near-the-money contract, 7–21 DTE. Or: logged refusal.</a:t>
            </a:r>
            <a:endParaRPr lang="en-US" sz="1150" dirty="0"/>
          </a:p>
        </p:txBody>
      </p:sp>
      <p:sp>
        <p:nvSpPr>
          <p:cNvPr id="33" name="Text 31"/>
          <p:cNvSpPr/>
          <p:nvPr/>
        </p:nvSpPr>
        <p:spPr>
          <a:xfrm>
            <a:off x="548640" y="5349240"/>
            <a:ext cx="10972800" cy="54864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A refusal at step 3 or 4 is logged with its reason — the mechanism catching itself is the point, not an edge case to hide. An agent is the cycle it runs unattended and the guardrails that can stop it, not the model class inside it; every decision above is reproducible from the log, line by line.</a:t>
            </a:r>
            <a:endParaRPr lang="en-US" sz="1300" dirty="0"/>
          </a:p>
        </p:txBody>
      </p:sp>
      <p:sp>
        <p:nvSpPr>
          <p:cNvPr id="34" name="Text 32"/>
          <p:cNvSpPr/>
          <p:nvPr/>
        </p:nvSpPr>
        <p:spPr>
          <a:xfrm>
            <a:off x="548640" y="6446520"/>
            <a:ext cx="54864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Hindsight Alpha  ·  Alpaca AI Trading Agents Hackathon</a:t>
            </a:r>
            <a:endParaRPr lang="en-US" sz="1000" dirty="0"/>
          </a:p>
        </p:txBody>
      </p:sp>
      <p:sp>
        <p:nvSpPr>
          <p:cNvPr id="35" name="Text 33"/>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THE STRATEGY</a:t>
            </a:r>
            <a:endParaRPr lang="en-US" sz="1200" dirty="0"/>
          </a:p>
        </p:txBody>
      </p:sp>
      <p:sp>
        <p:nvSpPr>
          <p:cNvPr id="3" name="Text 1"/>
          <p:cNvSpPr/>
          <p:nvPr/>
        </p:nvSpPr>
        <p:spPr>
          <a:xfrm>
            <a:off x="548640" y="685800"/>
            <a:ext cx="1051560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Options-native, on purpose</a:t>
            </a:r>
            <a:endParaRPr lang="en-US" sz="3200" dirty="0"/>
          </a:p>
        </p:txBody>
      </p:sp>
      <p:sp>
        <p:nvSpPr>
          <p:cNvPr id="4" name="Text 2"/>
          <p:cNvSpPr/>
          <p:nvPr/>
        </p:nvSpPr>
        <p:spPr>
          <a:xfrm>
            <a:off x="548640" y="1645920"/>
            <a:ext cx="6035040" cy="1828800"/>
          </a:xfrm>
          <a:prstGeom prst="rect">
            <a:avLst/>
          </a:prstGeom>
          <a:noFill/>
          <a:ln/>
        </p:spPr>
        <p:txBody>
          <a:bodyPr wrap="square" rtlCol="0" anchor="ctr"/>
          <a:lstStyle/>
          <a:p>
            <a:pPr indent="0" marL="0">
              <a:lnSpc>
                <a:spcPct val="125000"/>
              </a:lnSpc>
              <a:buNone/>
            </a:pPr>
            <a:r>
              <a:rPr lang="en-US" sz="1450" dirty="0">
                <a:solidFill>
                  <a:srgbClr val="1F2937"/>
                </a:solidFill>
                <a:latin typeface="Calibri" pitchFamily="34" charset="0"/>
                <a:ea typeface="Calibri" pitchFamily="34" charset="-122"/>
                <a:cs typeface="Calibri" pitchFamily="34" charset="-120"/>
              </a:rPr>
              <a:t>The decision is a volatility-regime call — “is optionality cheap right now” — not a directional bet dressed up with options. Historical option IV isn't a field Alpaca serves, so realized-volatility rank on daily closes is used instead, documented as the honest proxy it is, not hidden as a limitation.</a:t>
            </a:r>
            <a:endParaRPr lang="en-US" sz="1450" dirty="0"/>
          </a:p>
        </p:txBody>
      </p:sp>
      <p:sp>
        <p:nvSpPr>
          <p:cNvPr id="5" name="Shape 3"/>
          <p:cNvSpPr/>
          <p:nvPr/>
        </p:nvSpPr>
        <p:spPr>
          <a:xfrm>
            <a:off x="548640" y="3657600"/>
            <a:ext cx="6035040" cy="2286000"/>
          </a:xfrm>
          <a:prstGeom prst="roundRect">
            <a:avLst>
              <a:gd name="adj" fmla="val 4000"/>
            </a:avLst>
          </a:prstGeom>
          <a:solidFill>
            <a:srgbClr val="F4F6FB"/>
          </a:solidFill>
          <a:ln/>
        </p:spPr>
      </p:sp>
      <p:sp>
        <p:nvSpPr>
          <p:cNvPr id="6" name="Text 4"/>
          <p:cNvSpPr/>
          <p:nvPr/>
        </p:nvSpPr>
        <p:spPr>
          <a:xfrm>
            <a:off x="822960" y="3840480"/>
            <a:ext cx="5486400" cy="320040"/>
          </a:xfrm>
          <a:prstGeom prst="rect">
            <a:avLst/>
          </a:prstGeom>
          <a:noFill/>
          <a:ln/>
        </p:spPr>
        <p:txBody>
          <a:bodyPr wrap="square" rtlCol="0" anchor="ctr"/>
          <a:lstStyle/>
          <a:p>
            <a:pPr indent="0" marL="0">
              <a:buNone/>
            </a:pPr>
            <a:r>
              <a:rPr lang="en-US" sz="1100" b="1" spc="100" kern="0" dirty="0">
                <a:solidFill>
                  <a:srgbClr val="0F766E"/>
                </a:solidFill>
                <a:latin typeface="Calibri" pitchFamily="34" charset="0"/>
                <a:ea typeface="Calibri" pitchFamily="34" charset="-122"/>
                <a:cs typeface="Calibri" pitchFamily="34" charset="-120"/>
              </a:rPr>
              <a:t>WHY THESE 4 SYMBOLS</a:t>
            </a:r>
            <a:endParaRPr lang="en-US" sz="1100" dirty="0"/>
          </a:p>
        </p:txBody>
      </p:sp>
      <p:sp>
        <p:nvSpPr>
          <p:cNvPr id="7" name="Shape 5"/>
          <p:cNvSpPr/>
          <p:nvPr/>
        </p:nvSpPr>
        <p:spPr>
          <a:xfrm>
            <a:off x="822960" y="4251960"/>
            <a:ext cx="2651760" cy="594360"/>
          </a:xfrm>
          <a:prstGeom prst="roundRect">
            <a:avLst>
              <a:gd name="adj" fmla="val 12308"/>
            </a:avLst>
          </a:prstGeom>
          <a:solidFill>
            <a:srgbClr val="FFFFFF"/>
          </a:solidFill>
          <a:ln w="12700">
            <a:solidFill>
              <a:srgbClr val="0F766E"/>
            </a:solidFill>
            <a:prstDash val="solid"/>
          </a:ln>
        </p:spPr>
      </p:sp>
      <p:sp>
        <p:nvSpPr>
          <p:cNvPr id="8" name="Text 6"/>
          <p:cNvSpPr/>
          <p:nvPr/>
        </p:nvSpPr>
        <p:spPr>
          <a:xfrm>
            <a:off x="822960" y="4251960"/>
            <a:ext cx="2651760" cy="59436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SPY  </a:t>
            </a:r>
            <a:pPr algn="ctr" indent="0" marL="0">
              <a:buNone/>
            </a:pPr>
            <a:r>
              <a:rPr lang="en-US" sz="1200" dirty="0">
                <a:solidFill>
                  <a:srgbClr val="6B7280"/>
                </a:solidFill>
                <a:latin typeface="Calibri" pitchFamily="34" charset="0"/>
                <a:ea typeface="Calibri" pitchFamily="34" charset="-122"/>
                <a:cs typeface="Calibri" pitchFamily="34" charset="-120"/>
              </a:rPr>
              <a:t>broad market</a:t>
            </a:r>
            <a:endParaRPr lang="en-US" sz="1400" dirty="0"/>
          </a:p>
        </p:txBody>
      </p:sp>
      <p:sp>
        <p:nvSpPr>
          <p:cNvPr id="9" name="Shape 7"/>
          <p:cNvSpPr/>
          <p:nvPr/>
        </p:nvSpPr>
        <p:spPr>
          <a:xfrm>
            <a:off x="3703320" y="4251960"/>
            <a:ext cx="2651760" cy="594360"/>
          </a:xfrm>
          <a:prstGeom prst="roundRect">
            <a:avLst>
              <a:gd name="adj" fmla="val 12308"/>
            </a:avLst>
          </a:prstGeom>
          <a:solidFill>
            <a:srgbClr val="FFFFFF"/>
          </a:solidFill>
          <a:ln w="12700">
            <a:solidFill>
              <a:srgbClr val="0F766E"/>
            </a:solidFill>
            <a:prstDash val="solid"/>
          </a:ln>
        </p:spPr>
      </p:sp>
      <p:sp>
        <p:nvSpPr>
          <p:cNvPr id="10" name="Text 8"/>
          <p:cNvSpPr/>
          <p:nvPr/>
        </p:nvSpPr>
        <p:spPr>
          <a:xfrm>
            <a:off x="3703320" y="4251960"/>
            <a:ext cx="2651760" cy="59436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GLD  </a:t>
            </a:r>
            <a:pPr algn="ctr" indent="0" marL="0">
              <a:buNone/>
            </a:pPr>
            <a:r>
              <a:rPr lang="en-US" sz="1200" dirty="0">
                <a:solidFill>
                  <a:srgbClr val="6B7280"/>
                </a:solidFill>
                <a:latin typeface="Calibri" pitchFamily="34" charset="0"/>
                <a:ea typeface="Calibri" pitchFamily="34" charset="-122"/>
                <a:cs typeface="Calibri" pitchFamily="34" charset="-120"/>
              </a:rPr>
              <a:t>commodities</a:t>
            </a:r>
            <a:endParaRPr lang="en-US" sz="1400" dirty="0"/>
          </a:p>
        </p:txBody>
      </p:sp>
      <p:sp>
        <p:nvSpPr>
          <p:cNvPr id="11" name="Shape 9"/>
          <p:cNvSpPr/>
          <p:nvPr/>
        </p:nvSpPr>
        <p:spPr>
          <a:xfrm>
            <a:off x="822960" y="5029200"/>
            <a:ext cx="2651760" cy="594360"/>
          </a:xfrm>
          <a:prstGeom prst="roundRect">
            <a:avLst>
              <a:gd name="adj" fmla="val 12308"/>
            </a:avLst>
          </a:prstGeom>
          <a:solidFill>
            <a:srgbClr val="FFFFFF"/>
          </a:solidFill>
          <a:ln w="12700">
            <a:solidFill>
              <a:srgbClr val="0F766E"/>
            </a:solidFill>
            <a:prstDash val="solid"/>
          </a:ln>
        </p:spPr>
      </p:sp>
      <p:sp>
        <p:nvSpPr>
          <p:cNvPr id="12" name="Text 10"/>
          <p:cNvSpPr/>
          <p:nvPr/>
        </p:nvSpPr>
        <p:spPr>
          <a:xfrm>
            <a:off x="822960" y="5029200"/>
            <a:ext cx="2651760" cy="59436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XLK  </a:t>
            </a:r>
            <a:pPr algn="ctr" indent="0" marL="0">
              <a:buNone/>
            </a:pPr>
            <a:r>
              <a:rPr lang="en-US" sz="1200" dirty="0">
                <a:solidFill>
                  <a:srgbClr val="6B7280"/>
                </a:solidFill>
                <a:latin typeface="Calibri" pitchFamily="34" charset="0"/>
                <a:ea typeface="Calibri" pitchFamily="34" charset="-122"/>
                <a:cs typeface="Calibri" pitchFamily="34" charset="-120"/>
              </a:rPr>
              <a:t>technology</a:t>
            </a:r>
            <a:endParaRPr lang="en-US" sz="1400" dirty="0"/>
          </a:p>
        </p:txBody>
      </p:sp>
      <p:sp>
        <p:nvSpPr>
          <p:cNvPr id="13" name="Shape 11"/>
          <p:cNvSpPr/>
          <p:nvPr/>
        </p:nvSpPr>
        <p:spPr>
          <a:xfrm>
            <a:off x="3703320" y="5029200"/>
            <a:ext cx="2651760" cy="594360"/>
          </a:xfrm>
          <a:prstGeom prst="roundRect">
            <a:avLst>
              <a:gd name="adj" fmla="val 12308"/>
            </a:avLst>
          </a:prstGeom>
          <a:solidFill>
            <a:srgbClr val="FFFFFF"/>
          </a:solidFill>
          <a:ln w="12700">
            <a:solidFill>
              <a:srgbClr val="0F766E"/>
            </a:solidFill>
            <a:prstDash val="solid"/>
          </a:ln>
        </p:spPr>
      </p:sp>
      <p:sp>
        <p:nvSpPr>
          <p:cNvPr id="14" name="Text 12"/>
          <p:cNvSpPr/>
          <p:nvPr/>
        </p:nvSpPr>
        <p:spPr>
          <a:xfrm>
            <a:off x="3703320" y="5029200"/>
            <a:ext cx="2651760" cy="594360"/>
          </a:xfrm>
          <a:prstGeom prst="rect">
            <a:avLst/>
          </a:prstGeom>
          <a:noFill/>
          <a:ln/>
        </p:spPr>
        <p:txBody>
          <a:bodyPr wrap="square"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XLV  </a:t>
            </a:r>
            <a:pPr algn="ctr" indent="0" marL="0">
              <a:buNone/>
            </a:pPr>
            <a:r>
              <a:rPr lang="en-US" sz="1200" dirty="0">
                <a:solidFill>
                  <a:srgbClr val="6B7280"/>
                </a:solidFill>
                <a:latin typeface="Calibri" pitchFamily="34" charset="0"/>
                <a:ea typeface="Calibri" pitchFamily="34" charset="-122"/>
                <a:cs typeface="Calibri" pitchFamily="34" charset="-120"/>
              </a:rPr>
              <a:t>healthcare</a:t>
            </a:r>
            <a:endParaRPr lang="en-US" sz="1400" dirty="0"/>
          </a:p>
        </p:txBody>
      </p:sp>
      <p:sp>
        <p:nvSpPr>
          <p:cNvPr id="15" name="Shape 13"/>
          <p:cNvSpPr/>
          <p:nvPr/>
        </p:nvSpPr>
        <p:spPr>
          <a:xfrm>
            <a:off x="7086600" y="1645920"/>
            <a:ext cx="4480560" cy="4297680"/>
          </a:xfrm>
          <a:prstGeom prst="roundRect">
            <a:avLst>
              <a:gd name="adj" fmla="val 2553"/>
            </a:avLst>
          </a:prstGeom>
          <a:solidFill>
            <a:srgbClr val="1E2761"/>
          </a:solidFill>
          <a:ln/>
          <a:effectLst>
            <a:outerShdw sx="100000" sy="100000" kx="0" ky="0" algn="bl" rotWithShape="0" blurRad="152400" dist="50800" dir="5400000">
              <a:srgbClr val="1E2761">
                <a:alpha val="25000"/>
              </a:srgbClr>
            </a:outerShdw>
          </a:effectLst>
        </p:spPr>
      </p:sp>
      <p:sp>
        <p:nvSpPr>
          <p:cNvPr id="16" name="Text 14"/>
          <p:cNvSpPr/>
          <p:nvPr/>
        </p:nvSpPr>
        <p:spPr>
          <a:xfrm>
            <a:off x="7406640" y="1920240"/>
            <a:ext cx="3840480" cy="320040"/>
          </a:xfrm>
          <a:prstGeom prst="rect">
            <a:avLst/>
          </a:prstGeom>
          <a:noFill/>
          <a:ln/>
        </p:spPr>
        <p:txBody>
          <a:bodyPr wrap="square" rtlCol="0" anchor="ctr"/>
          <a:lstStyle/>
          <a:p>
            <a:pPr indent="0" marL="0">
              <a:buNone/>
            </a:pPr>
            <a:r>
              <a:rPr lang="en-US" sz="1100" b="1" spc="100" kern="0" dirty="0">
                <a:solidFill>
                  <a:srgbClr val="8891C4"/>
                </a:solidFill>
                <a:latin typeface="Calibri" pitchFamily="34" charset="0"/>
                <a:ea typeface="Calibri" pitchFamily="34" charset="-122"/>
                <a:cs typeface="Calibri" pitchFamily="34" charset="-120"/>
              </a:rPr>
              <a:t>PREVIOUS UNIVERSE: SPY, QQQ, IWM</a:t>
            </a:r>
            <a:endParaRPr lang="en-US" sz="1100" dirty="0"/>
          </a:p>
        </p:txBody>
      </p:sp>
      <p:sp>
        <p:nvSpPr>
          <p:cNvPr id="17" name="Text 15"/>
          <p:cNvSpPr/>
          <p:nvPr/>
        </p:nvSpPr>
        <p:spPr>
          <a:xfrm>
            <a:off x="7406640" y="2286000"/>
            <a:ext cx="3840480" cy="1005840"/>
          </a:xfrm>
          <a:prstGeom prst="rect">
            <a:avLst/>
          </a:prstGeom>
          <a:noFill/>
          <a:ln/>
        </p:spPr>
        <p:txBody>
          <a:bodyPr wrap="square" rtlCol="0" anchor="ctr"/>
          <a:lstStyle/>
          <a:p>
            <a:pPr indent="0" marL="0">
              <a:lnSpc>
                <a:spcPct val="120000"/>
              </a:lnSpc>
              <a:buNone/>
            </a:pPr>
            <a:r>
              <a:rPr lang="en-US" sz="1300" dirty="0">
                <a:solidFill>
                  <a:srgbClr val="CADCFC"/>
                </a:solidFill>
                <a:latin typeface="Calibri" pitchFamily="34" charset="0"/>
                <a:ea typeface="Calibri" pitchFamily="34" charset="-122"/>
                <a:cs typeface="Calibri" pitchFamily="34" charset="-120"/>
              </a:rPr>
              <a:t>Same macro driver, same days cheap/expensive together — more chances to trade, not more diversification.</a:t>
            </a:r>
            <a:endParaRPr lang="en-US" sz="1300" dirty="0"/>
          </a:p>
        </p:txBody>
      </p:sp>
      <p:sp>
        <p:nvSpPr>
          <p:cNvPr id="18" name="Shape 16"/>
          <p:cNvSpPr/>
          <p:nvPr/>
        </p:nvSpPr>
        <p:spPr>
          <a:xfrm>
            <a:off x="7406640" y="3429000"/>
            <a:ext cx="3749040" cy="0"/>
          </a:xfrm>
          <a:prstGeom prst="line">
            <a:avLst/>
          </a:prstGeom>
          <a:noFill/>
          <a:ln w="12700">
            <a:solidFill>
              <a:srgbClr val="3A4380"/>
            </a:solidFill>
            <a:prstDash val="solid"/>
          </a:ln>
        </p:spPr>
      </p:sp>
      <p:sp>
        <p:nvSpPr>
          <p:cNvPr id="19" name="Text 17"/>
          <p:cNvSpPr/>
          <p:nvPr/>
        </p:nvSpPr>
        <p:spPr>
          <a:xfrm>
            <a:off x="7406640" y="3611880"/>
            <a:ext cx="3840480" cy="320040"/>
          </a:xfrm>
          <a:prstGeom prst="rect">
            <a:avLst/>
          </a:prstGeom>
          <a:noFill/>
          <a:ln/>
        </p:spPr>
        <p:txBody>
          <a:bodyPr wrap="square" rtlCol="0" anchor="ctr"/>
          <a:lstStyle/>
          <a:p>
            <a:pPr indent="0" marL="0">
              <a:buNone/>
            </a:pPr>
            <a:r>
              <a:rPr lang="en-US" sz="1100" b="1" spc="100" kern="0" dirty="0">
                <a:solidFill>
                  <a:srgbClr val="02C39A"/>
                </a:solidFill>
                <a:latin typeface="Calibri" pitchFamily="34" charset="0"/>
                <a:ea typeface="Calibri" pitchFamily="34" charset="-122"/>
                <a:cs typeface="Calibri" pitchFamily="34" charset="-120"/>
              </a:rPr>
              <a:t>NOW: SPY, GLD, XLK, XLV</a:t>
            </a:r>
            <a:endParaRPr lang="en-US" sz="1100" dirty="0"/>
          </a:p>
        </p:txBody>
      </p:sp>
      <p:sp>
        <p:nvSpPr>
          <p:cNvPr id="20" name="Text 18"/>
          <p:cNvSpPr/>
          <p:nvPr/>
        </p:nvSpPr>
        <p:spPr>
          <a:xfrm>
            <a:off x="7406640" y="3977640"/>
            <a:ext cx="3840480" cy="1005840"/>
          </a:xfrm>
          <a:prstGeom prst="rect">
            <a:avLst/>
          </a:prstGeom>
          <a:noFill/>
          <a:ln/>
        </p:spPr>
        <p:txBody>
          <a:bodyPr wrap="square" rtlCol="0" anchor="ctr"/>
          <a:lstStyle/>
          <a:p>
            <a:pPr indent="0" marL="0">
              <a:lnSpc>
                <a:spcPct val="120000"/>
              </a:lnSpc>
              <a:buNone/>
            </a:pPr>
            <a:r>
              <a:rPr lang="en-US" sz="1300" dirty="0">
                <a:solidFill>
                  <a:srgbClr val="FFFFFF"/>
                </a:solidFill>
                <a:latin typeface="Calibri" pitchFamily="34" charset="0"/>
                <a:ea typeface="Calibri" pitchFamily="34" charset="-122"/>
                <a:cs typeface="Calibri" pitchFamily="34" charset="-120"/>
              </a:rPr>
              <a:t>Genuinely uncorrelated sectors — holding several at once means different macro exposure, not the same trade three times.</a:t>
            </a:r>
            <a:endParaRPr lang="en-US" sz="1300" dirty="0"/>
          </a:p>
        </p:txBody>
      </p:sp>
      <p:sp>
        <p:nvSpPr>
          <p:cNvPr id="21" name="Text 19"/>
          <p:cNvSpPr/>
          <p:nvPr/>
        </p:nvSpPr>
        <p:spPr>
          <a:xfrm>
            <a:off x="7406640" y="5120640"/>
            <a:ext cx="3840480" cy="731520"/>
          </a:xfrm>
          <a:prstGeom prst="rect">
            <a:avLst/>
          </a:prstGeom>
          <a:noFill/>
          <a:ln/>
        </p:spPr>
        <p:txBody>
          <a:bodyPr wrap="square" rtlCol="0" anchor="ctr"/>
          <a:lstStyle/>
          <a:p>
            <a:pPr indent="0" marL="0">
              <a:lnSpc>
                <a:spcPct val="120000"/>
              </a:lnSpc>
              <a:buNone/>
            </a:pPr>
            <a:r>
              <a:rPr lang="en-US" sz="1200" i="1" dirty="0">
                <a:solidFill>
                  <a:srgbClr val="AAB4E8"/>
                </a:solidFill>
                <a:latin typeface="Calibri" pitchFamily="34" charset="0"/>
                <a:ea typeface="Calibri" pitchFamily="34" charset="-122"/>
                <a:cs typeface="Calibri" pitchFamily="34" charset="-120"/>
              </a:rPr>
              <a:t>Diversification enforced in code (per-sector cap), not just chosen at the universe level — see next.</a:t>
            </a:r>
            <a:endParaRPr lang="en-US" sz="1200" dirty="0"/>
          </a:p>
        </p:txBody>
      </p:sp>
      <p:sp>
        <p:nvSpPr>
          <p:cNvPr id="22" name="Text 20"/>
          <p:cNvSpPr/>
          <p:nvPr/>
        </p:nvSpPr>
        <p:spPr>
          <a:xfrm>
            <a:off x="548640" y="6446520"/>
            <a:ext cx="54864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Hindsight Alpha  ·  Alpaca AI Trading Agents Hackathon</a:t>
            </a:r>
            <a:endParaRPr lang="en-US" sz="1000" dirty="0"/>
          </a:p>
        </p:txBody>
      </p:sp>
      <p:sp>
        <p:nvSpPr>
          <p:cNvPr id="23" name="Text 21"/>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RISK GUARDRAILS — ENTRY</a:t>
            </a:r>
            <a:endParaRPr lang="en-US" sz="1200" dirty="0"/>
          </a:p>
        </p:txBody>
      </p:sp>
      <p:sp>
        <p:nvSpPr>
          <p:cNvPr id="3" name="Text 1"/>
          <p:cNvSpPr/>
          <p:nvPr/>
        </p:nvSpPr>
        <p:spPr>
          <a:xfrm>
            <a:off x="548640" y="685800"/>
            <a:ext cx="1051560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A cap that isn't checked in code is a policy, not a control</a:t>
            </a:r>
            <a:endParaRPr lang="en-US" sz="3200" dirty="0"/>
          </a:p>
        </p:txBody>
      </p:sp>
      <p:sp>
        <p:nvSpPr>
          <p:cNvPr id="4" name="Shape 2"/>
          <p:cNvSpPr/>
          <p:nvPr/>
        </p:nvSpPr>
        <p:spPr>
          <a:xfrm>
            <a:off x="548640" y="1783080"/>
            <a:ext cx="11109960" cy="932688"/>
          </a:xfrm>
          <a:prstGeom prst="roundRect">
            <a:avLst>
              <a:gd name="adj" fmla="val 7843"/>
            </a:avLst>
          </a:prstGeom>
          <a:solidFill>
            <a:srgbClr val="F4F6FB"/>
          </a:solidFill>
          <a:ln/>
        </p:spPr>
      </p:sp>
      <p:sp>
        <p:nvSpPr>
          <p:cNvPr id="5" name="Shape 3"/>
          <p:cNvSpPr/>
          <p:nvPr/>
        </p:nvSpPr>
        <p:spPr>
          <a:xfrm>
            <a:off x="777240" y="1929384"/>
            <a:ext cx="640080" cy="640080"/>
          </a:xfrm>
          <a:prstGeom prst="ellipse">
            <a:avLst/>
          </a:prstGeom>
          <a:solidFill>
            <a:srgbClr val="0F766E"/>
          </a:solidFill>
          <a:ln/>
        </p:spPr>
      </p:sp>
      <p:sp>
        <p:nvSpPr>
          <p:cNvPr id="6" name="Text 4"/>
          <p:cNvSpPr/>
          <p:nvPr/>
        </p:nvSpPr>
        <p:spPr>
          <a:xfrm>
            <a:off x="777240" y="1929384"/>
            <a:ext cx="640080" cy="64008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691640" y="1901952"/>
            <a:ext cx="2468880" cy="694944"/>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per trade</a:t>
            </a:r>
            <a:endParaRPr lang="en-US" sz="1500" dirty="0"/>
          </a:p>
        </p:txBody>
      </p:sp>
      <p:sp>
        <p:nvSpPr>
          <p:cNvPr id="8" name="Text 6"/>
          <p:cNvSpPr/>
          <p:nvPr/>
        </p:nvSpPr>
        <p:spPr>
          <a:xfrm>
            <a:off x="4206240" y="1901952"/>
            <a:ext cx="7315200" cy="694944"/>
          </a:xfrm>
          <a:prstGeom prst="rect">
            <a:avLst/>
          </a:prstGeom>
          <a:noFill/>
          <a:ln/>
        </p:spPr>
        <p:txBody>
          <a:bodyPr wrap="square" rtlCol="0" anchor="ctr"/>
          <a:lstStyle/>
          <a:p>
            <a:pPr indent="0" marL="0">
              <a:lnSpc>
                <a:spcPct val="115000"/>
              </a:lnSpc>
              <a:buNone/>
            </a:pPr>
            <a:r>
              <a:rPr lang="en-US" sz="1250" dirty="0">
                <a:solidFill>
                  <a:srgbClr val="1F2937"/>
                </a:solidFill>
                <a:latin typeface="Calibri" pitchFamily="34" charset="0"/>
                <a:ea typeface="Calibri" pitchFamily="34" charset="-122"/>
                <a:cs typeface="Calibri" pitchFamily="34" charset="-120"/>
              </a:rPr>
              <a:t>Max premium on any single position, sized from the live ask — or skipped if 1 contract doesn't fit.</a:t>
            </a:r>
            <a:endParaRPr lang="en-US" sz="1250" dirty="0"/>
          </a:p>
        </p:txBody>
      </p:sp>
      <p:sp>
        <p:nvSpPr>
          <p:cNvPr id="9" name="Shape 7"/>
          <p:cNvSpPr/>
          <p:nvPr/>
        </p:nvSpPr>
        <p:spPr>
          <a:xfrm>
            <a:off x="548640" y="2880360"/>
            <a:ext cx="11109960" cy="932688"/>
          </a:xfrm>
          <a:prstGeom prst="roundRect">
            <a:avLst>
              <a:gd name="adj" fmla="val 7843"/>
            </a:avLst>
          </a:prstGeom>
          <a:solidFill>
            <a:srgbClr val="F4F6FB"/>
          </a:solidFill>
          <a:ln/>
        </p:spPr>
      </p:sp>
      <p:sp>
        <p:nvSpPr>
          <p:cNvPr id="10" name="Shape 8"/>
          <p:cNvSpPr/>
          <p:nvPr/>
        </p:nvSpPr>
        <p:spPr>
          <a:xfrm>
            <a:off x="777240" y="3026664"/>
            <a:ext cx="640080" cy="640080"/>
          </a:xfrm>
          <a:prstGeom prst="ellipse">
            <a:avLst/>
          </a:prstGeom>
          <a:solidFill>
            <a:srgbClr val="0F766E"/>
          </a:solidFill>
          <a:ln/>
        </p:spPr>
      </p:sp>
      <p:sp>
        <p:nvSpPr>
          <p:cNvPr id="11" name="Text 9"/>
          <p:cNvSpPr/>
          <p:nvPr/>
        </p:nvSpPr>
        <p:spPr>
          <a:xfrm>
            <a:off x="777240" y="3026664"/>
            <a:ext cx="640080" cy="64008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p:nvPr/>
        </p:nvSpPr>
        <p:spPr>
          <a:xfrm>
            <a:off x="1691640" y="2999232"/>
            <a:ext cx="2468880" cy="694944"/>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total exposure</a:t>
            </a:r>
            <a:endParaRPr lang="en-US" sz="1500" dirty="0"/>
          </a:p>
        </p:txBody>
      </p:sp>
      <p:sp>
        <p:nvSpPr>
          <p:cNvPr id="13" name="Text 11"/>
          <p:cNvSpPr/>
          <p:nvPr/>
        </p:nvSpPr>
        <p:spPr>
          <a:xfrm>
            <a:off x="4206240" y="2999232"/>
            <a:ext cx="7315200" cy="694944"/>
          </a:xfrm>
          <a:prstGeom prst="rect">
            <a:avLst/>
          </a:prstGeom>
          <a:noFill/>
          <a:ln/>
        </p:spPr>
        <p:txBody>
          <a:bodyPr wrap="square" rtlCol="0" anchor="ctr"/>
          <a:lstStyle/>
          <a:p>
            <a:pPr indent="0" marL="0">
              <a:lnSpc>
                <a:spcPct val="115000"/>
              </a:lnSpc>
              <a:buNone/>
            </a:pPr>
            <a:r>
              <a:rPr lang="en-US" sz="1250" dirty="0">
                <a:solidFill>
                  <a:srgbClr val="1F2937"/>
                </a:solidFill>
                <a:latin typeface="Calibri" pitchFamily="34" charset="0"/>
                <a:ea typeface="Calibri" pitchFamily="34" charset="-122"/>
                <a:cs typeface="Calibri" pitchFamily="34" charset="-120"/>
              </a:rPr>
              <a:t>Combined premium across ALL open positions at once. A 2nd or 3rd position shrinks what's left, not a fresh 1% each.</a:t>
            </a:r>
            <a:endParaRPr lang="en-US" sz="1250" dirty="0"/>
          </a:p>
        </p:txBody>
      </p:sp>
      <p:sp>
        <p:nvSpPr>
          <p:cNvPr id="14" name="Shape 12"/>
          <p:cNvSpPr/>
          <p:nvPr/>
        </p:nvSpPr>
        <p:spPr>
          <a:xfrm>
            <a:off x="548640" y="3977640"/>
            <a:ext cx="11109960" cy="932688"/>
          </a:xfrm>
          <a:prstGeom prst="roundRect">
            <a:avLst>
              <a:gd name="adj" fmla="val 7843"/>
            </a:avLst>
          </a:prstGeom>
          <a:solidFill>
            <a:srgbClr val="F4F6FB"/>
          </a:solidFill>
          <a:ln/>
        </p:spPr>
      </p:sp>
      <p:sp>
        <p:nvSpPr>
          <p:cNvPr id="15" name="Shape 13"/>
          <p:cNvSpPr/>
          <p:nvPr/>
        </p:nvSpPr>
        <p:spPr>
          <a:xfrm>
            <a:off x="777240" y="4123944"/>
            <a:ext cx="640080" cy="640080"/>
          </a:xfrm>
          <a:prstGeom prst="ellipse">
            <a:avLst/>
          </a:prstGeom>
          <a:solidFill>
            <a:srgbClr val="0F766E"/>
          </a:solidFill>
          <a:ln/>
        </p:spPr>
      </p:sp>
      <p:sp>
        <p:nvSpPr>
          <p:cNvPr id="16" name="Text 14"/>
          <p:cNvSpPr/>
          <p:nvPr/>
        </p:nvSpPr>
        <p:spPr>
          <a:xfrm>
            <a:off x="777240" y="4123944"/>
            <a:ext cx="640080" cy="64008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1.5%</a:t>
            </a:r>
            <a:endParaRPr lang="en-US" sz="1500" dirty="0"/>
          </a:p>
        </p:txBody>
      </p:sp>
      <p:sp>
        <p:nvSpPr>
          <p:cNvPr id="17" name="Text 15"/>
          <p:cNvSpPr/>
          <p:nvPr/>
        </p:nvSpPr>
        <p:spPr>
          <a:xfrm>
            <a:off x="1691640" y="4096512"/>
            <a:ext cx="2468880" cy="694944"/>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per sector</a:t>
            </a:r>
            <a:endParaRPr lang="en-US" sz="1500" dirty="0"/>
          </a:p>
        </p:txBody>
      </p:sp>
      <p:sp>
        <p:nvSpPr>
          <p:cNvPr id="18" name="Text 16"/>
          <p:cNvSpPr/>
          <p:nvPr/>
        </p:nvSpPr>
        <p:spPr>
          <a:xfrm>
            <a:off x="4206240" y="4096512"/>
            <a:ext cx="7315200" cy="694944"/>
          </a:xfrm>
          <a:prstGeom prst="rect">
            <a:avLst/>
          </a:prstGeom>
          <a:noFill/>
          <a:ln/>
        </p:spPr>
        <p:txBody>
          <a:bodyPr wrap="square" rtlCol="0" anchor="ctr"/>
          <a:lstStyle/>
          <a:p>
            <a:pPr indent="0" marL="0">
              <a:lnSpc>
                <a:spcPct val="115000"/>
              </a:lnSpc>
              <a:buNone/>
            </a:pPr>
            <a:r>
              <a:rPr lang="en-US" sz="1250" dirty="0">
                <a:solidFill>
                  <a:srgbClr val="1F2937"/>
                </a:solidFill>
                <a:latin typeface="Calibri" pitchFamily="34" charset="0"/>
                <a:ea typeface="Calibri" pitchFamily="34" charset="-122"/>
                <a:cs typeface="Calibri" pitchFamily="34" charset="-120"/>
              </a:rPr>
              <a:t>Caps committed premium within one sector — a no-op today, a real control once the universe grows past one symbol/sector.</a:t>
            </a:r>
            <a:endParaRPr lang="en-US" sz="1250" dirty="0"/>
          </a:p>
        </p:txBody>
      </p:sp>
      <p:sp>
        <p:nvSpPr>
          <p:cNvPr id="19" name="Shape 17"/>
          <p:cNvSpPr/>
          <p:nvPr/>
        </p:nvSpPr>
        <p:spPr>
          <a:xfrm>
            <a:off x="548640" y="5074920"/>
            <a:ext cx="11109960" cy="932688"/>
          </a:xfrm>
          <a:prstGeom prst="roundRect">
            <a:avLst>
              <a:gd name="adj" fmla="val 7843"/>
            </a:avLst>
          </a:prstGeom>
          <a:solidFill>
            <a:srgbClr val="F4F6FB"/>
          </a:solidFill>
          <a:ln/>
        </p:spPr>
      </p:sp>
      <p:sp>
        <p:nvSpPr>
          <p:cNvPr id="20" name="Shape 18"/>
          <p:cNvSpPr/>
          <p:nvPr/>
        </p:nvSpPr>
        <p:spPr>
          <a:xfrm>
            <a:off x="777240" y="5221224"/>
            <a:ext cx="640080" cy="640080"/>
          </a:xfrm>
          <a:prstGeom prst="ellipse">
            <a:avLst/>
          </a:prstGeom>
          <a:solidFill>
            <a:srgbClr val="0F766E"/>
          </a:solidFill>
          <a:ln/>
        </p:spPr>
      </p:sp>
      <p:sp>
        <p:nvSpPr>
          <p:cNvPr id="21" name="Text 19"/>
          <p:cNvSpPr/>
          <p:nvPr/>
        </p:nvSpPr>
        <p:spPr>
          <a:xfrm>
            <a:off x="777240" y="5221224"/>
            <a:ext cx="640080" cy="64008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2" name="Text 20"/>
          <p:cNvSpPr/>
          <p:nvPr/>
        </p:nvSpPr>
        <p:spPr>
          <a:xfrm>
            <a:off x="1691640" y="5193792"/>
            <a:ext cx="2468880" cy="694944"/>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drawdown from start</a:t>
            </a:r>
            <a:endParaRPr lang="en-US" sz="1500" dirty="0"/>
          </a:p>
        </p:txBody>
      </p:sp>
      <p:sp>
        <p:nvSpPr>
          <p:cNvPr id="23" name="Text 21"/>
          <p:cNvSpPr/>
          <p:nvPr/>
        </p:nvSpPr>
        <p:spPr>
          <a:xfrm>
            <a:off x="4206240" y="5193792"/>
            <a:ext cx="7315200" cy="694944"/>
          </a:xfrm>
          <a:prstGeom prst="rect">
            <a:avLst/>
          </a:prstGeom>
          <a:noFill/>
          <a:ln/>
        </p:spPr>
        <p:txBody>
          <a:bodyPr wrap="square" rtlCol="0" anchor="ctr"/>
          <a:lstStyle/>
          <a:p>
            <a:pPr indent="0" marL="0">
              <a:lnSpc>
                <a:spcPct val="115000"/>
              </a:lnSpc>
              <a:buNone/>
            </a:pPr>
            <a:r>
              <a:rPr lang="en-US" sz="1250" dirty="0">
                <a:solidFill>
                  <a:srgbClr val="1F2937"/>
                </a:solidFill>
                <a:latin typeface="Calibri" pitchFamily="34" charset="0"/>
                <a:ea typeface="Calibri" pitchFamily="34" charset="-122"/>
                <a:cs typeface="Calibri" pitchFamily="34" charset="-120"/>
              </a:rPr>
              <a:t>Sticky lock vs. recorded starting equity, persisted in state.json across days — not just within one run, and there is no week-boundary reset.</a:t>
            </a:r>
            <a:endParaRPr lang="en-US" sz="1250" dirty="0"/>
          </a:p>
        </p:txBody>
      </p:sp>
      <p:sp>
        <p:nvSpPr>
          <p:cNvPr id="24" name="Text 22"/>
          <p:cNvSpPr/>
          <p:nvPr/>
        </p:nvSpPr>
        <p:spPr>
          <a:xfrm>
            <a:off x="548640" y="6080760"/>
            <a:ext cx="10972800" cy="365760"/>
          </a:xfrm>
          <a:prstGeom prst="rect">
            <a:avLst/>
          </a:prstGeom>
          <a:noFill/>
          <a:ln/>
        </p:spPr>
        <p:txBody>
          <a:bodyPr wrap="square"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Plus: never two open positions on the same underlying, never more than 4 concurrent positions.</a:t>
            </a:r>
            <a:endParaRPr lang="en-US" sz="1250" dirty="0"/>
          </a:p>
        </p:txBody>
      </p:sp>
      <p:sp>
        <p:nvSpPr>
          <p:cNvPr id="25" name="Text 23"/>
          <p:cNvSpPr/>
          <p:nvPr/>
        </p:nvSpPr>
        <p:spPr>
          <a:xfrm>
            <a:off x="548640" y="6446520"/>
            <a:ext cx="54864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Hindsight Alpha  ·  Alpaca AI Trading Agents Hackathon</a:t>
            </a:r>
            <a:endParaRPr lang="en-US" sz="1000" dirty="0"/>
          </a:p>
        </p:txBody>
      </p:sp>
      <p:sp>
        <p:nvSpPr>
          <p:cNvPr id="26" name="Text 24"/>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B4D"/>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RISK GUARDRAILS — EXIT &amp; AGENT-LEVEL</a:t>
            </a:r>
            <a:endParaRPr lang="en-US" sz="1200" dirty="0"/>
          </a:p>
        </p:txBody>
      </p:sp>
      <p:sp>
        <p:nvSpPr>
          <p:cNvPr id="3" name="Text 1"/>
          <p:cNvSpPr/>
          <p:nvPr/>
        </p:nvSpPr>
        <p:spPr>
          <a:xfrm>
            <a:off x="548640" y="685800"/>
            <a:ext cx="10515600" cy="822960"/>
          </a:xfrm>
          <a:prstGeom prst="rect">
            <a:avLst/>
          </a:prstGeom>
          <a:noFill/>
          <a:ln/>
        </p:spPr>
        <p:txBody>
          <a:bodyPr wrap="square"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Improving the agent, not just the strategy</a:t>
            </a:r>
            <a:endParaRPr lang="en-US" sz="3200" dirty="0"/>
          </a:p>
        </p:txBody>
      </p:sp>
      <p:sp>
        <p:nvSpPr>
          <p:cNvPr id="4" name="Text 2"/>
          <p:cNvSpPr/>
          <p:nvPr/>
        </p:nvSpPr>
        <p:spPr>
          <a:xfrm>
            <a:off x="548640" y="1554480"/>
            <a:ext cx="10972800" cy="548640"/>
          </a:xfrm>
          <a:prstGeom prst="rect">
            <a:avLst/>
          </a:prstGeom>
          <a:noFill/>
          <a:ln/>
        </p:spPr>
        <p:txBody>
          <a:bodyPr wrap="square" rtlCol="0" anchor="ctr"/>
          <a:lstStyle/>
          <a:p>
            <a:pPr indent="0" marL="0">
              <a:buNone/>
            </a:pPr>
            <a:r>
              <a:rPr lang="en-US" sz="1350" i="1" dirty="0">
                <a:solidFill>
                  <a:srgbClr val="CADCFC"/>
                </a:solidFill>
                <a:latin typeface="Calibri" pitchFamily="34" charset="0"/>
                <a:ea typeface="Calibri" pitchFamily="34" charset="-122"/>
                <a:cs typeface="Calibri" pitchFamily="34" charset="-120"/>
              </a:rPr>
              <a:t>“We improved the strategy — but the agent is the real deliverable.” Researched a published Alpaca reference architecture and an industry failure-mode guide, then implemented what applied — not just described it.</a:t>
            </a:r>
            <a:endParaRPr lang="en-US" sz="1350" dirty="0"/>
          </a:p>
        </p:txBody>
      </p:sp>
      <p:sp>
        <p:nvSpPr>
          <p:cNvPr id="5" name="Shape 3"/>
          <p:cNvSpPr/>
          <p:nvPr/>
        </p:nvSpPr>
        <p:spPr>
          <a:xfrm>
            <a:off x="548640" y="2148840"/>
            <a:ext cx="5440680" cy="1207008"/>
          </a:xfrm>
          <a:prstGeom prst="roundRect">
            <a:avLst>
              <a:gd name="adj" fmla="val 6061"/>
            </a:avLst>
          </a:prstGeom>
          <a:solidFill>
            <a:srgbClr val="1E2761"/>
          </a:solidFill>
          <a:ln/>
        </p:spPr>
      </p:sp>
      <p:sp>
        <p:nvSpPr>
          <p:cNvPr id="6" name="Shape 4"/>
          <p:cNvSpPr/>
          <p:nvPr/>
        </p:nvSpPr>
        <p:spPr>
          <a:xfrm>
            <a:off x="713232" y="2295144"/>
            <a:ext cx="82296" cy="914400"/>
          </a:xfrm>
          <a:prstGeom prst="roundRect">
            <a:avLst/>
          </a:prstGeom>
          <a:solidFill>
            <a:srgbClr val="02C39A"/>
          </a:solidFill>
          <a:ln/>
        </p:spPr>
      </p:sp>
      <p:sp>
        <p:nvSpPr>
          <p:cNvPr id="7" name="Text 5"/>
          <p:cNvSpPr/>
          <p:nvPr/>
        </p:nvSpPr>
        <p:spPr>
          <a:xfrm>
            <a:off x="914400" y="2258568"/>
            <a:ext cx="4892040" cy="32918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Exit loop</a:t>
            </a:r>
            <a:endParaRPr lang="en-US" sz="1350" dirty="0"/>
          </a:p>
        </p:txBody>
      </p:sp>
      <p:sp>
        <p:nvSpPr>
          <p:cNvPr id="8" name="Text 6"/>
          <p:cNvSpPr/>
          <p:nvPr/>
        </p:nvSpPr>
        <p:spPr>
          <a:xfrm>
            <a:off x="914400" y="2606040"/>
            <a:ext cx="4892040" cy="640080"/>
          </a:xfrm>
          <a:prstGeom prst="rect">
            <a:avLst/>
          </a:prstGeom>
          <a:noFill/>
          <a:ln/>
        </p:spPr>
        <p:txBody>
          <a:bodyPr wrap="square" rtlCol="0" anchor="ctr"/>
          <a:lstStyle/>
          <a:p>
            <a:pPr indent="0" marL="0">
              <a:lnSpc>
                <a:spcPct val="112000"/>
              </a:lnSpc>
              <a:buNone/>
            </a:pPr>
            <a:r>
              <a:rPr lang="en-US" sz="1100" dirty="0">
                <a:solidFill>
                  <a:srgbClr val="CADCFC"/>
                </a:solidFill>
                <a:latin typeface="Calibri" pitchFamily="34" charset="0"/>
                <a:ea typeface="Calibri" pitchFamily="34" charset="-122"/>
                <a:cs typeface="Calibri" pitchFamily="34" charset="-120"/>
              </a:rPr>
              <a:t>manage_exits() closes at +50%/−50% P&amp;L, runs first every cycle — before any new entry. Also standalone via monitor_exits.py, every 15 min.</a:t>
            </a:r>
            <a:endParaRPr lang="en-US" sz="1100" dirty="0"/>
          </a:p>
        </p:txBody>
      </p:sp>
      <p:sp>
        <p:nvSpPr>
          <p:cNvPr id="9" name="Shape 7"/>
          <p:cNvSpPr/>
          <p:nvPr/>
        </p:nvSpPr>
        <p:spPr>
          <a:xfrm>
            <a:off x="6217920" y="2148840"/>
            <a:ext cx="5440680" cy="1207008"/>
          </a:xfrm>
          <a:prstGeom prst="roundRect">
            <a:avLst>
              <a:gd name="adj" fmla="val 6061"/>
            </a:avLst>
          </a:prstGeom>
          <a:solidFill>
            <a:srgbClr val="1E2761"/>
          </a:solidFill>
          <a:ln/>
        </p:spPr>
      </p:sp>
      <p:sp>
        <p:nvSpPr>
          <p:cNvPr id="10" name="Shape 8"/>
          <p:cNvSpPr/>
          <p:nvPr/>
        </p:nvSpPr>
        <p:spPr>
          <a:xfrm>
            <a:off x="6382512" y="2295144"/>
            <a:ext cx="82296" cy="914400"/>
          </a:xfrm>
          <a:prstGeom prst="roundRect">
            <a:avLst/>
          </a:prstGeom>
          <a:solidFill>
            <a:srgbClr val="02C39A"/>
          </a:solidFill>
          <a:ln/>
        </p:spPr>
      </p:sp>
      <p:sp>
        <p:nvSpPr>
          <p:cNvPr id="11" name="Text 9"/>
          <p:cNvSpPr/>
          <p:nvPr/>
        </p:nvSpPr>
        <p:spPr>
          <a:xfrm>
            <a:off x="6583680" y="2258568"/>
            <a:ext cx="4892040" cy="32918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Data-quality gate</a:t>
            </a:r>
            <a:endParaRPr lang="en-US" sz="1350" dirty="0"/>
          </a:p>
        </p:txBody>
      </p:sp>
      <p:sp>
        <p:nvSpPr>
          <p:cNvPr id="12" name="Text 10"/>
          <p:cNvSpPr/>
          <p:nvPr/>
        </p:nvSpPr>
        <p:spPr>
          <a:xfrm>
            <a:off x="6583680" y="2606040"/>
            <a:ext cx="4892040" cy="640080"/>
          </a:xfrm>
          <a:prstGeom prst="rect">
            <a:avLst/>
          </a:prstGeom>
          <a:noFill/>
          <a:ln/>
        </p:spPr>
        <p:txBody>
          <a:bodyPr wrap="square" rtlCol="0" anchor="ctr"/>
          <a:lstStyle/>
          <a:p>
            <a:pPr indent="0" marL="0">
              <a:lnSpc>
                <a:spcPct val="112000"/>
              </a:lnSpc>
              <a:buNone/>
            </a:pPr>
            <a:r>
              <a:rPr lang="en-US" sz="1100" dirty="0">
                <a:solidFill>
                  <a:srgbClr val="CADCFC"/>
                </a:solidFill>
                <a:latin typeface="Calibri" pitchFamily="34" charset="0"/>
                <a:ea typeface="Calibri" pitchFamily="34" charset="-122"/>
                <a:cs typeface="Calibri" pitchFamily="34" charset="-120"/>
              </a:rPr>
              <a:t>Refuses stale (&gt;5 days old) or implausible (&gt;50% single-day jump) bars instead of trading on a frozen feed.</a:t>
            </a:r>
            <a:endParaRPr lang="en-US" sz="1100" dirty="0"/>
          </a:p>
        </p:txBody>
      </p:sp>
      <p:sp>
        <p:nvSpPr>
          <p:cNvPr id="13" name="Shape 11"/>
          <p:cNvSpPr/>
          <p:nvPr/>
        </p:nvSpPr>
        <p:spPr>
          <a:xfrm>
            <a:off x="548640" y="3483864"/>
            <a:ext cx="5440680" cy="1207008"/>
          </a:xfrm>
          <a:prstGeom prst="roundRect">
            <a:avLst>
              <a:gd name="adj" fmla="val 6061"/>
            </a:avLst>
          </a:prstGeom>
          <a:solidFill>
            <a:srgbClr val="1E2761"/>
          </a:solidFill>
          <a:ln/>
        </p:spPr>
      </p:sp>
      <p:sp>
        <p:nvSpPr>
          <p:cNvPr id="14" name="Shape 12"/>
          <p:cNvSpPr/>
          <p:nvPr/>
        </p:nvSpPr>
        <p:spPr>
          <a:xfrm>
            <a:off x="713232" y="3630168"/>
            <a:ext cx="82296" cy="914400"/>
          </a:xfrm>
          <a:prstGeom prst="roundRect">
            <a:avLst/>
          </a:prstGeom>
          <a:solidFill>
            <a:srgbClr val="02C39A"/>
          </a:solidFill>
          <a:ln/>
        </p:spPr>
      </p:sp>
      <p:sp>
        <p:nvSpPr>
          <p:cNvPr id="15" name="Text 13"/>
          <p:cNvSpPr/>
          <p:nvPr/>
        </p:nvSpPr>
        <p:spPr>
          <a:xfrm>
            <a:off x="914400" y="3593592"/>
            <a:ext cx="4892040" cy="32918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Manual HALT switch</a:t>
            </a:r>
            <a:endParaRPr lang="en-US" sz="1350" dirty="0"/>
          </a:p>
        </p:txBody>
      </p:sp>
      <p:sp>
        <p:nvSpPr>
          <p:cNvPr id="16" name="Text 14"/>
          <p:cNvSpPr/>
          <p:nvPr/>
        </p:nvSpPr>
        <p:spPr>
          <a:xfrm>
            <a:off x="914400" y="3941064"/>
            <a:ext cx="4892040" cy="640080"/>
          </a:xfrm>
          <a:prstGeom prst="rect">
            <a:avLst/>
          </a:prstGeom>
          <a:noFill/>
          <a:ln/>
        </p:spPr>
        <p:txBody>
          <a:bodyPr wrap="square" rtlCol="0" anchor="ctr"/>
          <a:lstStyle/>
          <a:p>
            <a:pPr indent="0" marL="0">
              <a:lnSpc>
                <a:spcPct val="112000"/>
              </a:lnSpc>
              <a:buNone/>
            </a:pPr>
            <a:r>
              <a:rPr lang="en-US" sz="1100" dirty="0">
                <a:solidFill>
                  <a:srgbClr val="CADCFC"/>
                </a:solidFill>
                <a:latin typeface="Calibri" pitchFamily="34" charset="0"/>
                <a:ea typeface="Calibri" pitchFamily="34" charset="-122"/>
                <a:cs typeface="Calibri" pitchFamily="34" charset="-120"/>
              </a:rPr>
              <a:t>A file next to the code pauses new entries — no credential or code change needed mid-week.</a:t>
            </a:r>
            <a:endParaRPr lang="en-US" sz="1100" dirty="0"/>
          </a:p>
        </p:txBody>
      </p:sp>
      <p:sp>
        <p:nvSpPr>
          <p:cNvPr id="17" name="Shape 15"/>
          <p:cNvSpPr/>
          <p:nvPr/>
        </p:nvSpPr>
        <p:spPr>
          <a:xfrm>
            <a:off x="6217920" y="3483864"/>
            <a:ext cx="5440680" cy="1207008"/>
          </a:xfrm>
          <a:prstGeom prst="roundRect">
            <a:avLst>
              <a:gd name="adj" fmla="val 6061"/>
            </a:avLst>
          </a:prstGeom>
          <a:solidFill>
            <a:srgbClr val="1E2761"/>
          </a:solidFill>
          <a:ln/>
        </p:spPr>
      </p:sp>
      <p:sp>
        <p:nvSpPr>
          <p:cNvPr id="18" name="Shape 16"/>
          <p:cNvSpPr/>
          <p:nvPr/>
        </p:nvSpPr>
        <p:spPr>
          <a:xfrm>
            <a:off x="6382512" y="3630168"/>
            <a:ext cx="82296" cy="914400"/>
          </a:xfrm>
          <a:prstGeom prst="roundRect">
            <a:avLst/>
          </a:prstGeom>
          <a:solidFill>
            <a:srgbClr val="02C39A"/>
          </a:solidFill>
          <a:ln/>
        </p:spPr>
      </p:sp>
      <p:sp>
        <p:nvSpPr>
          <p:cNvPr id="19" name="Text 17"/>
          <p:cNvSpPr/>
          <p:nvPr/>
        </p:nvSpPr>
        <p:spPr>
          <a:xfrm>
            <a:off x="6583680" y="3593592"/>
            <a:ext cx="4892040" cy="32918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Idempotency guard</a:t>
            </a:r>
            <a:endParaRPr lang="en-US" sz="1350" dirty="0"/>
          </a:p>
        </p:txBody>
      </p:sp>
      <p:sp>
        <p:nvSpPr>
          <p:cNvPr id="20" name="Text 18"/>
          <p:cNvSpPr/>
          <p:nvPr/>
        </p:nvSpPr>
        <p:spPr>
          <a:xfrm>
            <a:off x="6583680" y="3941064"/>
            <a:ext cx="4892040" cy="640080"/>
          </a:xfrm>
          <a:prstGeom prst="rect">
            <a:avLst/>
          </a:prstGeom>
          <a:noFill/>
          <a:ln/>
        </p:spPr>
        <p:txBody>
          <a:bodyPr wrap="square" rtlCol="0" anchor="ctr"/>
          <a:lstStyle/>
          <a:p>
            <a:pPr indent="0" marL="0">
              <a:lnSpc>
                <a:spcPct val="112000"/>
              </a:lnSpc>
              <a:buNone/>
            </a:pPr>
            <a:r>
              <a:rPr lang="en-US" sz="1100" dirty="0">
                <a:solidFill>
                  <a:srgbClr val="CADCFC"/>
                </a:solidFill>
                <a:latin typeface="Calibri" pitchFamily="34" charset="0"/>
                <a:ea typeface="Calibri" pitchFamily="34" charset="-122"/>
                <a:cs typeface="Calibri" pitchFamily="34" charset="-120"/>
              </a:rPr>
              <a:t>Local record in state.json survives a crash-and-retry — can't resubmit the same order twice.</a:t>
            </a:r>
            <a:endParaRPr lang="en-US" sz="1100" dirty="0"/>
          </a:p>
        </p:txBody>
      </p:sp>
      <p:sp>
        <p:nvSpPr>
          <p:cNvPr id="21" name="Shape 19"/>
          <p:cNvSpPr/>
          <p:nvPr/>
        </p:nvSpPr>
        <p:spPr>
          <a:xfrm>
            <a:off x="548640" y="4818888"/>
            <a:ext cx="5440680" cy="1207008"/>
          </a:xfrm>
          <a:prstGeom prst="roundRect">
            <a:avLst>
              <a:gd name="adj" fmla="val 6061"/>
            </a:avLst>
          </a:prstGeom>
          <a:solidFill>
            <a:srgbClr val="1E2761"/>
          </a:solidFill>
          <a:ln/>
        </p:spPr>
      </p:sp>
      <p:sp>
        <p:nvSpPr>
          <p:cNvPr id="22" name="Shape 20"/>
          <p:cNvSpPr/>
          <p:nvPr/>
        </p:nvSpPr>
        <p:spPr>
          <a:xfrm>
            <a:off x="713232" y="4965192"/>
            <a:ext cx="82296" cy="914400"/>
          </a:xfrm>
          <a:prstGeom prst="roundRect">
            <a:avLst/>
          </a:prstGeom>
          <a:solidFill>
            <a:srgbClr val="02C39A"/>
          </a:solidFill>
          <a:ln/>
        </p:spPr>
      </p:sp>
      <p:sp>
        <p:nvSpPr>
          <p:cNvPr id="23" name="Text 21"/>
          <p:cNvSpPr/>
          <p:nvPr/>
        </p:nvSpPr>
        <p:spPr>
          <a:xfrm>
            <a:off x="914400" y="4928616"/>
            <a:ext cx="4892040" cy="32918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Consecutive-loss breaker</a:t>
            </a:r>
            <a:endParaRPr lang="en-US" sz="1350" dirty="0"/>
          </a:p>
        </p:txBody>
      </p:sp>
      <p:sp>
        <p:nvSpPr>
          <p:cNvPr id="24" name="Text 22"/>
          <p:cNvSpPr/>
          <p:nvPr/>
        </p:nvSpPr>
        <p:spPr>
          <a:xfrm>
            <a:off x="914400" y="5276088"/>
            <a:ext cx="4892040" cy="640080"/>
          </a:xfrm>
          <a:prstGeom prst="rect">
            <a:avLst/>
          </a:prstGeom>
          <a:noFill/>
          <a:ln/>
        </p:spPr>
        <p:txBody>
          <a:bodyPr wrap="square" rtlCol="0" anchor="ctr"/>
          <a:lstStyle/>
          <a:p>
            <a:pPr indent="0" marL="0">
              <a:lnSpc>
                <a:spcPct val="112000"/>
              </a:lnSpc>
              <a:buNone/>
            </a:pPr>
            <a:r>
              <a:rPr lang="en-US" sz="1100" dirty="0">
                <a:solidFill>
                  <a:srgbClr val="CADCFC"/>
                </a:solidFill>
                <a:latin typeface="Calibri" pitchFamily="34" charset="0"/>
                <a:ea typeface="Calibri" pitchFamily="34" charset="-122"/>
                <a:cs typeface="Calibri" pitchFamily="34" charset="-120"/>
              </a:rPr>
              <a:t>3 stop-losses in a row pauses new entries for a human to look — separate signal from the weekly % lock.</a:t>
            </a:r>
            <a:endParaRPr lang="en-US" sz="1100" dirty="0"/>
          </a:p>
        </p:txBody>
      </p:sp>
      <p:sp>
        <p:nvSpPr>
          <p:cNvPr id="25" name="Shape 23"/>
          <p:cNvSpPr/>
          <p:nvPr/>
        </p:nvSpPr>
        <p:spPr>
          <a:xfrm>
            <a:off x="6217920" y="4818888"/>
            <a:ext cx="5440680" cy="1207008"/>
          </a:xfrm>
          <a:prstGeom prst="roundRect">
            <a:avLst>
              <a:gd name="adj" fmla="val 6061"/>
            </a:avLst>
          </a:prstGeom>
          <a:solidFill>
            <a:srgbClr val="1E2761"/>
          </a:solidFill>
          <a:ln/>
        </p:spPr>
      </p:sp>
      <p:sp>
        <p:nvSpPr>
          <p:cNvPr id="26" name="Shape 24"/>
          <p:cNvSpPr/>
          <p:nvPr/>
        </p:nvSpPr>
        <p:spPr>
          <a:xfrm>
            <a:off x="6382512" y="4965192"/>
            <a:ext cx="82296" cy="914400"/>
          </a:xfrm>
          <a:prstGeom prst="roundRect">
            <a:avLst/>
          </a:prstGeom>
          <a:solidFill>
            <a:srgbClr val="02C39A"/>
          </a:solidFill>
          <a:ln/>
        </p:spPr>
      </p:sp>
      <p:sp>
        <p:nvSpPr>
          <p:cNvPr id="27" name="Text 25"/>
          <p:cNvSpPr/>
          <p:nvPr/>
        </p:nvSpPr>
        <p:spPr>
          <a:xfrm>
            <a:off x="6583680" y="4928616"/>
            <a:ext cx="4892040" cy="32918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Per-position isolation</a:t>
            </a:r>
            <a:endParaRPr lang="en-US" sz="1350" dirty="0"/>
          </a:p>
        </p:txBody>
      </p:sp>
      <p:sp>
        <p:nvSpPr>
          <p:cNvPr id="28" name="Text 26"/>
          <p:cNvSpPr/>
          <p:nvPr/>
        </p:nvSpPr>
        <p:spPr>
          <a:xfrm>
            <a:off x="6583680" y="5276088"/>
            <a:ext cx="4892040" cy="640080"/>
          </a:xfrm>
          <a:prstGeom prst="rect">
            <a:avLst/>
          </a:prstGeom>
          <a:noFill/>
          <a:ln/>
        </p:spPr>
        <p:txBody>
          <a:bodyPr wrap="square" rtlCol="0" anchor="ctr"/>
          <a:lstStyle/>
          <a:p>
            <a:pPr indent="0" marL="0">
              <a:lnSpc>
                <a:spcPct val="112000"/>
              </a:lnSpc>
              <a:buNone/>
            </a:pPr>
            <a:r>
              <a:rPr lang="en-US" sz="1100" dirty="0">
                <a:solidFill>
                  <a:srgbClr val="CADCFC"/>
                </a:solidFill>
                <a:latin typeface="Calibri" pitchFamily="34" charset="0"/>
                <a:ea typeface="Calibri" pitchFamily="34" charset="-122"/>
                <a:cs typeface="Calibri" pitchFamily="34" charset="-120"/>
              </a:rPr>
              <a:t>One position's close failing can never block the next position's own exit check in the same run.</a:t>
            </a:r>
            <a:endParaRPr lang="en-US" sz="1100" dirty="0"/>
          </a:p>
        </p:txBody>
      </p:sp>
      <p:sp>
        <p:nvSpPr>
          <p:cNvPr id="29" name="Text 27"/>
          <p:cNvSpPr/>
          <p:nvPr/>
        </p:nvSpPr>
        <p:spPr>
          <a:xfrm>
            <a:off x="548640" y="6446520"/>
            <a:ext cx="5486400" cy="320040"/>
          </a:xfrm>
          <a:prstGeom prst="rect">
            <a:avLst/>
          </a:prstGeom>
          <a:noFill/>
          <a:ln/>
        </p:spPr>
        <p:txBody>
          <a:bodyPr wrap="square" rtlCol="0" anchor="ctr"/>
          <a:lstStyle/>
          <a:p>
            <a:pPr indent="0" marL="0">
              <a:buNone/>
            </a:pPr>
            <a:r>
              <a:rPr lang="en-US" sz="1000" dirty="0">
                <a:solidFill>
                  <a:srgbClr val="8891C4"/>
                </a:solidFill>
                <a:latin typeface="Calibri" pitchFamily="34" charset="0"/>
                <a:ea typeface="Calibri" pitchFamily="34" charset="-122"/>
                <a:cs typeface="Calibri" pitchFamily="34" charset="-120"/>
              </a:rPr>
              <a:t>Hindsight Alpha  ·  Alpaca AI Trading Agents Hackathon</a:t>
            </a:r>
            <a:endParaRPr lang="en-US" sz="1000" dirty="0"/>
          </a:p>
        </p:txBody>
      </p:sp>
      <p:sp>
        <p:nvSpPr>
          <p:cNvPr id="30" name="Text 28"/>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HONEST RESULTS — NOT A HEADLINE NUMBER</a:t>
            </a:r>
            <a:endParaRPr lang="en-US" sz="1200" dirty="0"/>
          </a:p>
        </p:txBody>
      </p:sp>
      <p:sp>
        <p:nvSpPr>
          <p:cNvPr id="3" name="Text 1"/>
          <p:cNvSpPr/>
          <p:nvPr/>
        </p:nvSpPr>
        <p:spPr>
          <a:xfrm>
            <a:off x="548640" y="685800"/>
            <a:ext cx="1051560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The edge is real on paper, and fragile in practice</a:t>
            </a:r>
            <a:endParaRPr lang="en-US" sz="3200" dirty="0"/>
          </a:p>
        </p:txBody>
      </p:sp>
      <p:graphicFrame>
        <p:nvGraphicFramePr>
          <p:cNvPr id="4" name="Chart 0" descr=""/>
          <p:cNvGraphicFramePr/>
          <p:nvPr/>
        </p:nvGraphicFramePr>
        <p:xfrm>
          <a:off x="457200" y="1600200"/>
          <a:ext cx="6309360" cy="35204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040880" y="1600200"/>
            <a:ext cx="4526280" cy="914400"/>
          </a:xfrm>
          <a:prstGeom prst="roundRect">
            <a:avLst>
              <a:gd name="adj" fmla="val 8000"/>
            </a:avLst>
          </a:prstGeom>
          <a:solidFill>
            <a:srgbClr val="F4F6FB"/>
          </a:solidFill>
          <a:ln/>
        </p:spPr>
      </p:sp>
      <p:sp>
        <p:nvSpPr>
          <p:cNvPr id="6" name="Text 3"/>
          <p:cNvSpPr/>
          <p:nvPr/>
        </p:nvSpPr>
        <p:spPr>
          <a:xfrm>
            <a:off x="7223760" y="1691640"/>
            <a:ext cx="1463040" cy="731520"/>
          </a:xfrm>
          <a:prstGeom prst="rect">
            <a:avLst/>
          </a:prstGeom>
          <a:noFill/>
          <a:ln/>
        </p:spPr>
        <p:txBody>
          <a:bodyPr wrap="square" rtlCol="0" anchor="ctr"/>
          <a:lstStyle/>
          <a:p>
            <a:pPr indent="0" marL="0">
              <a:buNone/>
            </a:pPr>
            <a:r>
              <a:rPr lang="en-US" sz="2000" b="1" dirty="0">
                <a:solidFill>
                  <a:srgbClr val="B91C1C"/>
                </a:solidFill>
                <a:latin typeface="Cambria" pitchFamily="34" charset="0"/>
                <a:ea typeface="Cambria" pitchFamily="34" charset="-122"/>
                <a:cs typeface="Cambria" pitchFamily="34" charset="-120"/>
              </a:rPr>
              <a:t>4 of 5</a:t>
            </a:r>
            <a:endParaRPr lang="en-US" sz="2000" dirty="0"/>
          </a:p>
        </p:txBody>
      </p:sp>
      <p:sp>
        <p:nvSpPr>
          <p:cNvPr id="7" name="Text 4"/>
          <p:cNvSpPr/>
          <p:nvPr/>
        </p:nvSpPr>
        <p:spPr>
          <a:xfrm>
            <a:off x="8686800" y="1673352"/>
            <a:ext cx="2743200" cy="777240"/>
          </a:xfrm>
          <a:prstGeom prst="rect">
            <a:avLst/>
          </a:prstGeom>
          <a:noFill/>
          <a:ln/>
        </p:spPr>
        <p:txBody>
          <a:bodyPr wrap="square" rtlCol="0" anchor="ctr"/>
          <a:lstStyle/>
          <a:p>
            <a:pPr indent="0" marL="0">
              <a:lnSpc>
                <a:spcPct val="110000"/>
              </a:lnSpc>
              <a:buNone/>
            </a:pPr>
            <a:r>
              <a:rPr lang="en-US" sz="1080" dirty="0">
                <a:solidFill>
                  <a:srgbClr val="1F2937"/>
                </a:solidFill>
                <a:latin typeface="Calibri" pitchFamily="34" charset="0"/>
                <a:ea typeface="Calibri" pitchFamily="34" charset="-122"/>
                <a:cs typeface="Calibri" pitchFamily="34" charset="-120"/>
              </a:rPr>
              <a:t>candidate windows lose money for SPY — window sensitivity varies by symbol (full detail in the write-up).</a:t>
            </a:r>
            <a:endParaRPr lang="en-US" sz="1080" dirty="0"/>
          </a:p>
        </p:txBody>
      </p:sp>
      <p:sp>
        <p:nvSpPr>
          <p:cNvPr id="8" name="Shape 5"/>
          <p:cNvSpPr/>
          <p:nvPr/>
        </p:nvSpPr>
        <p:spPr>
          <a:xfrm>
            <a:off x="7040880" y="2651760"/>
            <a:ext cx="4526280" cy="914400"/>
          </a:xfrm>
          <a:prstGeom prst="roundRect">
            <a:avLst>
              <a:gd name="adj" fmla="val 8000"/>
            </a:avLst>
          </a:prstGeom>
          <a:solidFill>
            <a:srgbClr val="F4F6FB"/>
          </a:solidFill>
          <a:ln/>
        </p:spPr>
      </p:sp>
      <p:sp>
        <p:nvSpPr>
          <p:cNvPr id="9" name="Text 6"/>
          <p:cNvSpPr/>
          <p:nvPr/>
        </p:nvSpPr>
        <p:spPr>
          <a:xfrm>
            <a:off x="7223760" y="2743200"/>
            <a:ext cx="1463040" cy="731520"/>
          </a:xfrm>
          <a:prstGeom prst="rect">
            <a:avLst/>
          </a:prstGeom>
          <a:noFill/>
          <a:ln/>
        </p:spPr>
        <p:txBody>
          <a:bodyPr wrap="square" rtlCol="0" anchor="ctr"/>
          <a:lstStyle/>
          <a:p>
            <a:pPr indent="0" marL="0">
              <a:buNone/>
            </a:pPr>
            <a:r>
              <a:rPr lang="en-US" sz="2000" b="1" dirty="0">
                <a:solidFill>
                  <a:srgbClr val="B91C1C"/>
                </a:solidFill>
                <a:latin typeface="Cambria" pitchFamily="34" charset="0"/>
                <a:ea typeface="Cambria" pitchFamily="34" charset="-122"/>
                <a:cs typeface="Cambria" pitchFamily="34" charset="-120"/>
              </a:rPr>
              <a:t>68.5–82.6%</a:t>
            </a:r>
            <a:endParaRPr lang="en-US" sz="2000" dirty="0"/>
          </a:p>
        </p:txBody>
      </p:sp>
      <p:sp>
        <p:nvSpPr>
          <p:cNvPr id="10" name="Text 7"/>
          <p:cNvSpPr/>
          <p:nvPr/>
        </p:nvSpPr>
        <p:spPr>
          <a:xfrm>
            <a:off x="8686800" y="2724912"/>
            <a:ext cx="2743200" cy="777240"/>
          </a:xfrm>
          <a:prstGeom prst="rect">
            <a:avLst/>
          </a:prstGeom>
          <a:noFill/>
          <a:ln/>
        </p:spPr>
        <p:txBody>
          <a:bodyPr wrap="square" rtlCol="0" anchor="ctr"/>
          <a:lstStyle/>
          <a:p>
            <a:pPr indent="0" marL="0">
              <a:lnSpc>
                <a:spcPct val="110000"/>
              </a:lnSpc>
              <a:buNone/>
            </a:pPr>
            <a:r>
              <a:rPr lang="en-US" sz="1080" dirty="0">
                <a:solidFill>
                  <a:srgbClr val="1F2937"/>
                </a:solidFill>
                <a:latin typeface="Calibri" pitchFamily="34" charset="0"/>
                <a:ea typeface="Calibri" pitchFamily="34" charset="-122"/>
                <a:cs typeface="Calibri" pitchFamily="34" charset="-120"/>
              </a:rPr>
              <a:t>of each clean symbol's total gain comes from its 5 best days out of 52–102 trades.</a:t>
            </a:r>
            <a:endParaRPr lang="en-US" sz="1080" dirty="0"/>
          </a:p>
        </p:txBody>
      </p:sp>
      <p:sp>
        <p:nvSpPr>
          <p:cNvPr id="11" name="Shape 8"/>
          <p:cNvSpPr/>
          <p:nvPr/>
        </p:nvSpPr>
        <p:spPr>
          <a:xfrm>
            <a:off x="7040880" y="3703320"/>
            <a:ext cx="4526280" cy="914400"/>
          </a:xfrm>
          <a:prstGeom prst="roundRect">
            <a:avLst>
              <a:gd name="adj" fmla="val 8000"/>
            </a:avLst>
          </a:prstGeom>
          <a:solidFill>
            <a:srgbClr val="F4F6FB"/>
          </a:solidFill>
          <a:ln/>
        </p:spPr>
      </p:sp>
      <p:sp>
        <p:nvSpPr>
          <p:cNvPr id="12" name="Text 9"/>
          <p:cNvSpPr/>
          <p:nvPr/>
        </p:nvSpPr>
        <p:spPr>
          <a:xfrm>
            <a:off x="7223760" y="3794760"/>
            <a:ext cx="1463040" cy="731520"/>
          </a:xfrm>
          <a:prstGeom prst="rect">
            <a:avLst/>
          </a:prstGeom>
          <a:noFill/>
          <a:ln/>
        </p:spPr>
        <p:txBody>
          <a:bodyPr wrap="square" rtlCol="0" anchor="ctr"/>
          <a:lstStyle/>
          <a:p>
            <a:pPr indent="0" marL="0">
              <a:buNone/>
            </a:pPr>
            <a:r>
              <a:rPr lang="en-US" sz="2000" b="1" dirty="0">
                <a:solidFill>
                  <a:srgbClr val="B91C1C"/>
                </a:solidFill>
                <a:latin typeface="Cambria" pitchFamily="34" charset="0"/>
                <a:ea typeface="Cambria" pitchFamily="34" charset="-122"/>
                <a:cs typeface="Cambria" pitchFamily="34" charset="-120"/>
              </a:rPr>
              <a:t>45.1–57.1%</a:t>
            </a:r>
            <a:endParaRPr lang="en-US" sz="2000" dirty="0"/>
          </a:p>
        </p:txBody>
      </p:sp>
      <p:sp>
        <p:nvSpPr>
          <p:cNvPr id="13" name="Text 10"/>
          <p:cNvSpPr/>
          <p:nvPr/>
        </p:nvSpPr>
        <p:spPr>
          <a:xfrm>
            <a:off x="8686800" y="3776472"/>
            <a:ext cx="2743200" cy="777240"/>
          </a:xfrm>
          <a:prstGeom prst="rect">
            <a:avLst/>
          </a:prstGeom>
          <a:noFill/>
          <a:ln/>
        </p:spPr>
        <p:txBody>
          <a:bodyPr wrap="square" rtlCol="0" anchor="ctr"/>
          <a:lstStyle/>
          <a:p>
            <a:pPr indent="0" marL="0">
              <a:lnSpc>
                <a:spcPct val="110000"/>
              </a:lnSpc>
              <a:buNone/>
            </a:pPr>
            <a:r>
              <a:rPr lang="en-US" sz="1080" dirty="0">
                <a:solidFill>
                  <a:srgbClr val="1F2937"/>
                </a:solidFill>
                <a:latin typeface="Calibri" pitchFamily="34" charset="0"/>
                <a:ea typeface="Calibri" pitchFamily="34" charset="-122"/>
                <a:cs typeface="Calibri" pitchFamily="34" charset="-120"/>
              </a:rPr>
              <a:t>win rate on the 3 symbols that clear hindsight_guard cleanly — most individual trades still lose.</a:t>
            </a:r>
            <a:endParaRPr lang="en-US" sz="1080" dirty="0"/>
          </a:p>
        </p:txBody>
      </p:sp>
      <p:sp>
        <p:nvSpPr>
          <p:cNvPr id="14" name="Shape 11"/>
          <p:cNvSpPr/>
          <p:nvPr/>
        </p:nvSpPr>
        <p:spPr>
          <a:xfrm>
            <a:off x="7040880" y="4754880"/>
            <a:ext cx="4526280" cy="914400"/>
          </a:xfrm>
          <a:prstGeom prst="roundRect">
            <a:avLst>
              <a:gd name="adj" fmla="val 8000"/>
            </a:avLst>
          </a:prstGeom>
          <a:solidFill>
            <a:srgbClr val="1E2761"/>
          </a:solidFill>
          <a:ln/>
        </p:spPr>
      </p:sp>
      <p:sp>
        <p:nvSpPr>
          <p:cNvPr id="15" name="Text 12"/>
          <p:cNvSpPr/>
          <p:nvPr/>
        </p:nvSpPr>
        <p:spPr>
          <a:xfrm>
            <a:off x="7223760" y="4846320"/>
            <a:ext cx="1463040" cy="731520"/>
          </a:xfrm>
          <a:prstGeom prst="rect">
            <a:avLst/>
          </a:prstGeom>
          <a:noFill/>
          <a:ln/>
        </p:spPr>
        <p:txBody>
          <a:bodyPr wrap="square" rtlCol="0" anchor="ctr"/>
          <a:lstStyle/>
          <a:p>
            <a:pPr indent="0" marL="0">
              <a:buNone/>
            </a:pPr>
            <a:r>
              <a:rPr lang="en-US" sz="2000" b="1" dirty="0">
                <a:solidFill>
                  <a:srgbClr val="02C39A"/>
                </a:solidFill>
                <a:latin typeface="Cambria" pitchFamily="34" charset="0"/>
                <a:ea typeface="Cambria" pitchFamily="34" charset="-122"/>
                <a:cs typeface="Cambria" pitchFamily="34" charset="-120"/>
              </a:rPr>
              <a:t>1 leak caught</a:t>
            </a:r>
            <a:endParaRPr lang="en-US" sz="2000" dirty="0"/>
          </a:p>
        </p:txBody>
      </p:sp>
      <p:sp>
        <p:nvSpPr>
          <p:cNvPr id="16" name="Text 13"/>
          <p:cNvSpPr/>
          <p:nvPr/>
        </p:nvSpPr>
        <p:spPr>
          <a:xfrm>
            <a:off x="8686800" y="4828032"/>
            <a:ext cx="2743200" cy="777240"/>
          </a:xfrm>
          <a:prstGeom prst="rect">
            <a:avLst/>
          </a:prstGeom>
          <a:noFill/>
          <a:ln/>
        </p:spPr>
        <p:txBody>
          <a:bodyPr wrap="square" rtlCol="0" anchor="ctr"/>
          <a:lstStyle/>
          <a:p>
            <a:pPr indent="0" marL="0">
              <a:lnSpc>
                <a:spcPct val="110000"/>
              </a:lnSpc>
              <a:buNone/>
            </a:pPr>
            <a:r>
              <a:rPr lang="en-US" sz="1080" dirty="0">
                <a:solidFill>
                  <a:srgbClr val="FFFFFF"/>
                </a:solidFill>
                <a:latin typeface="Calibri" pitchFamily="34" charset="0"/>
                <a:ea typeface="Calibri" pitchFamily="34" charset="-122"/>
                <a:cs typeface="Calibri" pitchFamily="34" charset="-120"/>
              </a:rPr>
              <a:t>hindsight_guard: XLK's full-history winner (90d) disagrees with its in-sample winner (10d) — refused live, every run. No threshold touched after seeing these numbers.</a:t>
            </a:r>
            <a:endParaRPr lang="en-US" sz="1080" dirty="0"/>
          </a:p>
        </p:txBody>
      </p:sp>
      <p:sp>
        <p:nvSpPr>
          <p:cNvPr id="17" name="Text 14"/>
          <p:cNvSpPr/>
          <p:nvPr/>
        </p:nvSpPr>
        <p:spPr>
          <a:xfrm>
            <a:off x="457200" y="5257800"/>
            <a:ext cx="6309360" cy="868680"/>
          </a:xfrm>
          <a:prstGeom prst="rect">
            <a:avLst/>
          </a:prstGeom>
          <a:noFill/>
          <a:ln/>
        </p:spPr>
        <p:txBody>
          <a:bodyPr wrap="square" rtlCol="0" anchor="ctr"/>
          <a:lstStyle/>
          <a:p>
            <a:pPr indent="0" marL="0">
              <a:lnSpc>
                <a:spcPct val="115000"/>
              </a:lnSpc>
              <a:buNone/>
            </a:pPr>
            <a:r>
              <a:rPr lang="en-US" sz="1100" i="1" dirty="0">
                <a:solidFill>
                  <a:srgbClr val="6B7280"/>
                </a:solidFill>
                <a:latin typeface="Calibri" pitchFamily="34" charset="0"/>
                <a:ea typeface="Calibri" pitchFamily="34" charset="-122"/>
                <a:cs typeface="Calibri" pitchFamily="34" charset="-120"/>
              </a:rPr>
              <a:t>Proxy payoff — abs(next-day return) minus a vol-scaled cost term — ignores bid-ask spread and theta. Not a real premium simulation. Reported this way in the write-up, not softened for the pitch.</a:t>
            </a:r>
            <a:endParaRPr lang="en-US" sz="1100" dirty="0"/>
          </a:p>
        </p:txBody>
      </p:sp>
      <p:sp>
        <p:nvSpPr>
          <p:cNvPr id="18" name="Text 15"/>
          <p:cNvSpPr/>
          <p:nvPr/>
        </p:nvSpPr>
        <p:spPr>
          <a:xfrm>
            <a:off x="548640" y="6446520"/>
            <a:ext cx="54864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Hindsight Alpha  ·  Alpaca AI Trading Agents Hackathon</a:t>
            </a:r>
            <a:endParaRPr lang="en-US" sz="1000" dirty="0"/>
          </a:p>
        </p:txBody>
      </p:sp>
      <p:sp>
        <p:nvSpPr>
          <p:cNvPr id="19" name="Text 16"/>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ENGINEERING RIGOR</a:t>
            </a:r>
            <a:endParaRPr lang="en-US" sz="1200" dirty="0"/>
          </a:p>
        </p:txBody>
      </p:sp>
      <p:sp>
        <p:nvSpPr>
          <p:cNvPr id="3" name="Text 1"/>
          <p:cNvSpPr/>
          <p:nvPr/>
        </p:nvSpPr>
        <p:spPr>
          <a:xfrm>
            <a:off x="548640" y="685800"/>
            <a:ext cx="1051560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Found and fixed by testing — documented, not hidden</a:t>
            </a:r>
            <a:endParaRPr lang="en-US" sz="3200" dirty="0"/>
          </a:p>
        </p:txBody>
      </p:sp>
      <p:sp>
        <p:nvSpPr>
          <p:cNvPr id="4" name="Shape 2"/>
          <p:cNvSpPr/>
          <p:nvPr/>
        </p:nvSpPr>
        <p:spPr>
          <a:xfrm>
            <a:off x="548640" y="1737360"/>
            <a:ext cx="11109960" cy="1234440"/>
          </a:xfrm>
          <a:prstGeom prst="roundRect">
            <a:avLst>
              <a:gd name="adj" fmla="val 5926"/>
            </a:avLst>
          </a:prstGeom>
          <a:solidFill>
            <a:srgbClr val="F4F6FB"/>
          </a:solidFill>
          <a:ln/>
        </p:spPr>
      </p:sp>
      <p:sp>
        <p:nvSpPr>
          <p:cNvPr id="5" name="Shape 3"/>
          <p:cNvSpPr/>
          <p:nvPr/>
        </p:nvSpPr>
        <p:spPr>
          <a:xfrm>
            <a:off x="777240" y="2057400"/>
            <a:ext cx="594360" cy="594360"/>
          </a:xfrm>
          <a:prstGeom prst="ellipse">
            <a:avLst/>
          </a:prstGeom>
          <a:solidFill>
            <a:srgbClr val="B91C1C"/>
          </a:solidFill>
          <a:ln/>
        </p:spPr>
      </p:sp>
      <p:sp>
        <p:nvSpPr>
          <p:cNvPr id="6" name="Text 4"/>
          <p:cNvSpPr/>
          <p:nvPr/>
        </p:nvSpPr>
        <p:spPr>
          <a:xfrm>
            <a:off x="777240" y="2057400"/>
            <a:ext cx="594360" cy="59436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691640" y="1874520"/>
            <a:ext cx="960120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guard's own blind spot</a:t>
            </a:r>
            <a:endParaRPr lang="en-US" sz="1450" dirty="0"/>
          </a:p>
        </p:txBody>
      </p:sp>
      <p:sp>
        <p:nvSpPr>
          <p:cNvPr id="8" name="Text 6"/>
          <p:cNvSpPr/>
          <p:nvPr/>
        </p:nvSpPr>
        <p:spPr>
          <a:xfrm>
            <a:off x="1691640" y="2240280"/>
            <a:ext cx="9784080" cy="685800"/>
          </a:xfrm>
          <a:prstGeom prst="rect">
            <a:avLst/>
          </a:prstGeom>
          <a:noFill/>
          <a:ln/>
        </p:spPr>
        <p:txBody>
          <a:bodyPr wrap="square" rtlCol="0" anchor="ctr"/>
          <a:lstStyle/>
          <a:p>
            <a:pPr indent="0" marL="0">
              <a:lnSpc>
                <a:spcPct val="115000"/>
              </a:lnSpc>
              <a:buNone/>
            </a:pPr>
            <a:r>
              <a:rPr lang="en-US" sz="1200" dirty="0">
                <a:solidFill>
                  <a:srgbClr val="1F2937"/>
                </a:solidFill>
                <a:latin typeface="Calibri" pitchFamily="34" charset="0"/>
                <a:ea typeface="Calibri" pitchFamily="34" charset="-122"/>
                <a:cs typeface="Calibri" pitchFamily="34" charset="-120"/>
              </a:rPr>
              <a:t>_sharpe() returned 0.0 when it could not measure — a zero indistinguishable from a measured one. On a truncated feed, hindsight_guard certified a selection in which one candidate window had never been scored at all: "winner matches, clears the threshold". A candidate that could not be scored is not a candidate that lost.</a:t>
            </a:r>
            <a:endParaRPr lang="en-US" sz="1200" dirty="0"/>
          </a:p>
        </p:txBody>
      </p:sp>
      <p:sp>
        <p:nvSpPr>
          <p:cNvPr id="9" name="Shape 7"/>
          <p:cNvSpPr/>
          <p:nvPr/>
        </p:nvSpPr>
        <p:spPr>
          <a:xfrm>
            <a:off x="548640" y="3154680"/>
            <a:ext cx="11109960" cy="1234440"/>
          </a:xfrm>
          <a:prstGeom prst="roundRect">
            <a:avLst>
              <a:gd name="adj" fmla="val 5926"/>
            </a:avLst>
          </a:prstGeom>
          <a:solidFill>
            <a:srgbClr val="F4F6FB"/>
          </a:solidFill>
          <a:ln/>
        </p:spPr>
      </p:sp>
      <p:sp>
        <p:nvSpPr>
          <p:cNvPr id="10" name="Shape 8"/>
          <p:cNvSpPr/>
          <p:nvPr/>
        </p:nvSpPr>
        <p:spPr>
          <a:xfrm>
            <a:off x="777240" y="3474720"/>
            <a:ext cx="594360" cy="594360"/>
          </a:xfrm>
          <a:prstGeom prst="ellipse">
            <a:avLst/>
          </a:prstGeom>
          <a:solidFill>
            <a:srgbClr val="B91C1C"/>
          </a:solidFill>
          <a:ln/>
        </p:spPr>
      </p:sp>
      <p:sp>
        <p:nvSpPr>
          <p:cNvPr id="11" name="Text 9"/>
          <p:cNvSpPr/>
          <p:nvPr/>
        </p:nvSpPr>
        <p:spPr>
          <a:xfrm>
            <a:off x="777240" y="3474720"/>
            <a:ext cx="594360" cy="59436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691640" y="3291840"/>
            <a:ext cx="960120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 control that checked strings, not behaviour</a:t>
            </a:r>
            <a:endParaRPr lang="en-US" sz="1450" dirty="0"/>
          </a:p>
        </p:txBody>
      </p:sp>
      <p:sp>
        <p:nvSpPr>
          <p:cNvPr id="13" name="Text 11"/>
          <p:cNvSpPr/>
          <p:nvPr/>
        </p:nvSpPr>
        <p:spPr>
          <a:xfrm>
            <a:off x="1691640" y="3657600"/>
            <a:ext cx="9784080" cy="685800"/>
          </a:xfrm>
          <a:prstGeom prst="rect">
            <a:avLst/>
          </a:prstGeom>
          <a:noFill/>
          <a:ln/>
        </p:spPr>
        <p:txBody>
          <a:bodyPr wrap="square" rtlCol="0" anchor="ctr"/>
          <a:lstStyle/>
          <a:p>
            <a:pPr indent="0" marL="0">
              <a:lnSpc>
                <a:spcPct val="115000"/>
              </a:lnSpc>
              <a:buNone/>
            </a:pPr>
            <a:r>
              <a:rPr lang="en-US" sz="1200" dirty="0">
                <a:solidFill>
                  <a:srgbClr val="1F2937"/>
                </a:solidFill>
                <a:latin typeface="Calibri" pitchFamily="34" charset="0"/>
                <a:ea typeface="Calibri" pitchFamily="34" charset="-122"/>
                <a:cs typeface="Calibri" pitchFamily="34" charset="-120"/>
              </a:rPr>
              <a:t>The pre-commit guard for "paper trading only" searched config.py for two words. Deleting the live-trading refusal outright left it green. It now runs the code and reads the answer — a cap that isn't checked in code is a policy, and so is a check that isn't checked.</a:t>
            </a:r>
            <a:endParaRPr lang="en-US" sz="1200" dirty="0"/>
          </a:p>
        </p:txBody>
      </p:sp>
      <p:sp>
        <p:nvSpPr>
          <p:cNvPr id="14" name="Shape 12"/>
          <p:cNvSpPr/>
          <p:nvPr/>
        </p:nvSpPr>
        <p:spPr>
          <a:xfrm>
            <a:off x="548640" y="4572000"/>
            <a:ext cx="11109960" cy="1234440"/>
          </a:xfrm>
          <a:prstGeom prst="roundRect">
            <a:avLst>
              <a:gd name="adj" fmla="val 5926"/>
            </a:avLst>
          </a:prstGeom>
          <a:solidFill>
            <a:srgbClr val="F4F6FB"/>
          </a:solidFill>
          <a:ln/>
        </p:spPr>
      </p:sp>
      <p:sp>
        <p:nvSpPr>
          <p:cNvPr id="15" name="Shape 13"/>
          <p:cNvSpPr/>
          <p:nvPr/>
        </p:nvSpPr>
        <p:spPr>
          <a:xfrm>
            <a:off x="777240" y="4892040"/>
            <a:ext cx="594360" cy="594360"/>
          </a:xfrm>
          <a:prstGeom prst="ellipse">
            <a:avLst/>
          </a:prstGeom>
          <a:solidFill>
            <a:srgbClr val="B91C1C"/>
          </a:solidFill>
          <a:ln/>
        </p:spPr>
      </p:sp>
      <p:sp>
        <p:nvSpPr>
          <p:cNvPr id="16" name="Text 14"/>
          <p:cNvSpPr/>
          <p:nvPr/>
        </p:nvSpPr>
        <p:spPr>
          <a:xfrm>
            <a:off x="777240" y="4892040"/>
            <a:ext cx="594360" cy="59436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691640" y="4709160"/>
            <a:ext cx="960120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 timed-out order counted as failed</a:t>
            </a:r>
            <a:endParaRPr lang="en-US" sz="1450" dirty="0"/>
          </a:p>
        </p:txBody>
      </p:sp>
      <p:sp>
        <p:nvSpPr>
          <p:cNvPr id="18" name="Text 16"/>
          <p:cNvSpPr/>
          <p:nvPr/>
        </p:nvSpPr>
        <p:spPr>
          <a:xfrm>
            <a:off x="1691640" y="5074920"/>
            <a:ext cx="9784080" cy="685800"/>
          </a:xfrm>
          <a:prstGeom prst="rect">
            <a:avLst/>
          </a:prstGeom>
          <a:noFill/>
          <a:ln/>
        </p:spPr>
        <p:txBody>
          <a:bodyPr wrap="square" rtlCol="0" anchor="ctr"/>
          <a:lstStyle/>
          <a:p>
            <a:pPr indent="0" marL="0">
              <a:lnSpc>
                <a:spcPct val="115000"/>
              </a:lnSpc>
              <a:buNone/>
            </a:pPr>
            <a:r>
              <a:rPr lang="en-US" sz="1200" dirty="0">
                <a:solidFill>
                  <a:srgbClr val="1F2937"/>
                </a:solidFill>
                <a:latin typeface="Calibri" pitchFamily="34" charset="0"/>
                <a:ea typeface="Calibri" pitchFamily="34" charset="-122"/>
                <a:cs typeface="Calibri" pitchFamily="34" charset="-120"/>
              </a:rPr>
              <a:t>The CLI call has a 30-second timeout. An order whose answer never came back was treated as not sent: the duplicate-order guard was left unarmed, and the run sized its next trade as if that money were free. A timeout does not mean "failed" — it means "unknown".</a:t>
            </a:r>
            <a:endParaRPr lang="en-US" sz="1200" dirty="0"/>
          </a:p>
        </p:txBody>
      </p:sp>
      <p:sp>
        <p:nvSpPr>
          <p:cNvPr id="19" name="Text 17"/>
          <p:cNvSpPr/>
          <p:nvPr/>
        </p:nvSpPr>
        <p:spPr>
          <a:xfrm>
            <a:off x="548640" y="5943600"/>
            <a:ext cx="10972800" cy="457200"/>
          </a:xfrm>
          <a:prstGeom prst="rect">
            <a:avLst/>
          </a:prstGeom>
          <a:noFill/>
          <a:ln/>
        </p:spPr>
        <p:txBody>
          <a:bodyPr wrap="square"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Every fix reproduced with a failing test first, then verified fixed — not “looks right,” proven. See the public commit history.</a:t>
            </a:r>
            <a:endParaRPr lang="en-US" sz="1250" dirty="0"/>
          </a:p>
        </p:txBody>
      </p:sp>
      <p:sp>
        <p:nvSpPr>
          <p:cNvPr id="20" name="Text 18"/>
          <p:cNvSpPr/>
          <p:nvPr/>
        </p:nvSpPr>
        <p:spPr>
          <a:xfrm>
            <a:off x="548640" y="6446520"/>
            <a:ext cx="54864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Hindsight Alpha  ·  Alpaca AI Trading Agents Hackathon</a:t>
            </a:r>
            <a:endParaRPr lang="en-US" sz="1000" dirty="0"/>
          </a:p>
        </p:txBody>
      </p:sp>
      <p:sp>
        <p:nvSpPr>
          <p:cNvPr id="21" name="Text 19"/>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INFRASTRUCTURE</a:t>
            </a:r>
            <a:endParaRPr lang="en-US" sz="1200" dirty="0"/>
          </a:p>
        </p:txBody>
      </p:sp>
      <p:sp>
        <p:nvSpPr>
          <p:cNvPr id="3" name="Text 1"/>
          <p:cNvSpPr/>
          <p:nvPr/>
        </p:nvSpPr>
        <p:spPr>
          <a:xfrm>
            <a:off x="548640" y="685800"/>
            <a:ext cx="1051560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CLI-driven, transparent by construction</a:t>
            </a:r>
            <a:endParaRPr lang="en-US" sz="3200" dirty="0"/>
          </a:p>
        </p:txBody>
      </p:sp>
      <p:sp>
        <p:nvSpPr>
          <p:cNvPr id="4" name="Shape 2"/>
          <p:cNvSpPr/>
          <p:nvPr/>
        </p:nvSpPr>
        <p:spPr>
          <a:xfrm>
            <a:off x="548640" y="1737360"/>
            <a:ext cx="5440680" cy="1965960"/>
          </a:xfrm>
          <a:prstGeom prst="roundRect">
            <a:avLst>
              <a:gd name="adj" fmla="val 4651"/>
            </a:avLst>
          </a:prstGeom>
          <a:solidFill>
            <a:srgbClr val="FFFFFF"/>
          </a:solidFill>
          <a:ln w="12700">
            <a:solidFill>
              <a:srgbClr val="E5E7EB"/>
            </a:solidFill>
            <a:prstDash val="solid"/>
          </a:ln>
          <a:effectLst>
            <a:outerShdw sx="100000" sy="100000" kx="0" ky="0" algn="bl" rotWithShape="0" blurRad="76200" dist="25400" dir="5400000">
              <a:srgbClr val="1F2937">
                <a:alpha val="8000"/>
              </a:srgbClr>
            </a:outerShdw>
          </a:effectLst>
        </p:spPr>
      </p:sp>
      <p:sp>
        <p:nvSpPr>
          <p:cNvPr id="5" name="Shape 3"/>
          <p:cNvSpPr/>
          <p:nvPr/>
        </p:nvSpPr>
        <p:spPr>
          <a:xfrm>
            <a:off x="822960" y="2011680"/>
            <a:ext cx="502920" cy="502920"/>
          </a:xfrm>
          <a:prstGeom prst="roundRect">
            <a:avLst>
              <a:gd name="adj" fmla="val 14545"/>
            </a:avLst>
          </a:prstGeom>
          <a:solidFill>
            <a:srgbClr val="0F766E"/>
          </a:solidFill>
          <a:ln/>
        </p:spPr>
      </p:sp>
      <p:sp>
        <p:nvSpPr>
          <p:cNvPr id="6" name="Text 4"/>
          <p:cNvSpPr/>
          <p:nvPr/>
        </p:nvSpPr>
        <p:spPr>
          <a:xfrm>
            <a:off x="822960" y="2011680"/>
            <a:ext cx="502920" cy="50292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822960" y="2651760"/>
            <a:ext cx="489204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Alpaca CLI, not the SDK</a:t>
            </a:r>
            <a:endParaRPr lang="en-US" sz="1400" dirty="0"/>
          </a:p>
        </p:txBody>
      </p:sp>
      <p:sp>
        <p:nvSpPr>
          <p:cNvPr id="8" name="Text 6"/>
          <p:cNvSpPr/>
          <p:nvPr/>
        </p:nvSpPr>
        <p:spPr>
          <a:xfrm>
            <a:off x="822960" y="3017520"/>
            <a:ext cx="4892040" cy="594360"/>
          </a:xfrm>
          <a:prstGeom prst="rect">
            <a:avLst/>
          </a:prstGeom>
          <a:noFill/>
          <a:ln/>
        </p:spPr>
        <p:txBody>
          <a:bodyPr wrap="square" rtlCol="0" anchor="ctr"/>
          <a:lstStyle/>
          <a:p>
            <a:pPr indent="0" marL="0">
              <a:lnSpc>
                <a:spcPct val="115000"/>
              </a:lnSpc>
              <a:buNone/>
            </a:pPr>
            <a:r>
              <a:rPr lang="en-US" sz="1100" dirty="0">
                <a:solidFill>
                  <a:srgbClr val="6B7280"/>
                </a:solidFill>
                <a:latin typeface="Calibri" pitchFamily="34" charset="0"/>
                <a:ea typeface="Calibri" pitchFamily="34" charset="-122"/>
                <a:cs typeface="Calibri" pitchFamily="34" charset="-120"/>
              </a:rPr>
              <a:t>Satisfies the hackathon's “MCP or CLI” requirement. Matches Alpaca's own guidance: CLI for scheduled/cron agents, MCP for interactive AI-host sessions.</a:t>
            </a:r>
            <a:endParaRPr lang="en-US" sz="1100" dirty="0"/>
          </a:p>
        </p:txBody>
      </p:sp>
      <p:sp>
        <p:nvSpPr>
          <p:cNvPr id="9" name="Shape 7"/>
          <p:cNvSpPr/>
          <p:nvPr/>
        </p:nvSpPr>
        <p:spPr>
          <a:xfrm>
            <a:off x="6217920" y="1737360"/>
            <a:ext cx="5440680" cy="1965960"/>
          </a:xfrm>
          <a:prstGeom prst="roundRect">
            <a:avLst>
              <a:gd name="adj" fmla="val 4651"/>
            </a:avLst>
          </a:prstGeom>
          <a:solidFill>
            <a:srgbClr val="FFFFFF"/>
          </a:solidFill>
          <a:ln w="12700">
            <a:solidFill>
              <a:srgbClr val="E5E7EB"/>
            </a:solidFill>
            <a:prstDash val="solid"/>
          </a:ln>
          <a:effectLst>
            <a:outerShdw sx="100000" sy="100000" kx="0" ky="0" algn="bl" rotWithShape="0" blurRad="76200" dist="25400" dir="5400000">
              <a:srgbClr val="1F2937">
                <a:alpha val="8000"/>
              </a:srgbClr>
            </a:outerShdw>
          </a:effectLst>
        </p:spPr>
      </p:sp>
      <p:sp>
        <p:nvSpPr>
          <p:cNvPr id="10" name="Shape 8"/>
          <p:cNvSpPr/>
          <p:nvPr/>
        </p:nvSpPr>
        <p:spPr>
          <a:xfrm>
            <a:off x="6492240" y="2011680"/>
            <a:ext cx="502920" cy="502920"/>
          </a:xfrm>
          <a:prstGeom prst="roundRect">
            <a:avLst>
              <a:gd name="adj" fmla="val 14545"/>
            </a:avLst>
          </a:prstGeom>
          <a:solidFill>
            <a:srgbClr val="0F766E"/>
          </a:solidFill>
          <a:ln/>
        </p:spPr>
      </p:sp>
      <p:sp>
        <p:nvSpPr>
          <p:cNvPr id="11" name="Text 9"/>
          <p:cNvSpPr/>
          <p:nvPr/>
        </p:nvSpPr>
        <p:spPr>
          <a:xfrm>
            <a:off x="6492240" y="2011680"/>
            <a:ext cx="502920" cy="50292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6492240" y="2651760"/>
            <a:ext cx="489204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decision_log.jsonl</a:t>
            </a:r>
            <a:endParaRPr lang="en-US" sz="1400" dirty="0"/>
          </a:p>
        </p:txBody>
      </p:sp>
      <p:sp>
        <p:nvSpPr>
          <p:cNvPr id="13" name="Text 11"/>
          <p:cNvSpPr/>
          <p:nvPr/>
        </p:nvSpPr>
        <p:spPr>
          <a:xfrm>
            <a:off x="6492240" y="3017520"/>
            <a:ext cx="4892040" cy="594360"/>
          </a:xfrm>
          <a:prstGeom prst="rect">
            <a:avLst/>
          </a:prstGeom>
          <a:noFill/>
          <a:ln/>
        </p:spPr>
        <p:txBody>
          <a:bodyPr wrap="square" rtlCol="0" anchor="ctr"/>
          <a:lstStyle/>
          <a:p>
            <a:pPr indent="0" marL="0">
              <a:lnSpc>
                <a:spcPct val="115000"/>
              </a:lnSpc>
              <a:buNone/>
            </a:pPr>
            <a:r>
              <a:rPr lang="en-US" sz="1100" dirty="0">
                <a:solidFill>
                  <a:srgbClr val="6B7280"/>
                </a:solidFill>
                <a:latin typeface="Calibri" pitchFamily="34" charset="0"/>
                <a:ea typeface="Calibri" pitchFamily="34" charset="-122"/>
                <a:cs typeface="Calibri" pitchFamily="34" charset="-120"/>
              </a:rPr>
              <a:t>Committed, not gitignored — every run's verdicts, trades, and refusals in plain JSON. The raw material behind the dashboard and this deck.</a:t>
            </a:r>
            <a:endParaRPr lang="en-US" sz="1100" dirty="0"/>
          </a:p>
        </p:txBody>
      </p:sp>
      <p:sp>
        <p:nvSpPr>
          <p:cNvPr id="14" name="Shape 12"/>
          <p:cNvSpPr/>
          <p:nvPr/>
        </p:nvSpPr>
        <p:spPr>
          <a:xfrm>
            <a:off x="548640" y="3886200"/>
            <a:ext cx="5440680" cy="1965960"/>
          </a:xfrm>
          <a:prstGeom prst="roundRect">
            <a:avLst>
              <a:gd name="adj" fmla="val 4651"/>
            </a:avLst>
          </a:prstGeom>
          <a:solidFill>
            <a:srgbClr val="FFFFFF"/>
          </a:solidFill>
          <a:ln w="12700">
            <a:solidFill>
              <a:srgbClr val="E5E7EB"/>
            </a:solidFill>
            <a:prstDash val="solid"/>
          </a:ln>
          <a:effectLst>
            <a:outerShdw sx="100000" sy="100000" kx="0" ky="0" algn="bl" rotWithShape="0" blurRad="76200" dist="25400" dir="5400000">
              <a:srgbClr val="1F2937">
                <a:alpha val="8000"/>
              </a:srgbClr>
            </a:outerShdw>
          </a:effectLst>
        </p:spPr>
      </p:sp>
      <p:sp>
        <p:nvSpPr>
          <p:cNvPr id="15" name="Shape 13"/>
          <p:cNvSpPr/>
          <p:nvPr/>
        </p:nvSpPr>
        <p:spPr>
          <a:xfrm>
            <a:off x="822960" y="4160520"/>
            <a:ext cx="502920" cy="502920"/>
          </a:xfrm>
          <a:prstGeom prst="roundRect">
            <a:avLst>
              <a:gd name="adj" fmla="val 14545"/>
            </a:avLst>
          </a:prstGeom>
          <a:solidFill>
            <a:srgbClr val="0F766E"/>
          </a:solidFill>
          <a:ln/>
        </p:spPr>
      </p:sp>
      <p:sp>
        <p:nvSpPr>
          <p:cNvPr id="16" name="Text 14"/>
          <p:cNvSpPr/>
          <p:nvPr/>
        </p:nvSpPr>
        <p:spPr>
          <a:xfrm>
            <a:off x="822960" y="4160520"/>
            <a:ext cx="502920" cy="50292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822960" y="4800600"/>
            <a:ext cx="489204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Static public dashboard</a:t>
            </a:r>
            <a:endParaRPr lang="en-US" sz="1400" dirty="0"/>
          </a:p>
        </p:txBody>
      </p:sp>
      <p:sp>
        <p:nvSpPr>
          <p:cNvPr id="18" name="Text 16"/>
          <p:cNvSpPr/>
          <p:nvPr/>
        </p:nvSpPr>
        <p:spPr>
          <a:xfrm>
            <a:off x="822960" y="5166360"/>
            <a:ext cx="4892040" cy="594360"/>
          </a:xfrm>
          <a:prstGeom prst="rect">
            <a:avLst/>
          </a:prstGeom>
          <a:noFill/>
          <a:ln/>
        </p:spPr>
        <p:txBody>
          <a:bodyPr wrap="square" rtlCol="0" anchor="ctr"/>
          <a:lstStyle/>
          <a:p>
            <a:pPr indent="0" marL="0">
              <a:lnSpc>
                <a:spcPct val="115000"/>
              </a:lnSpc>
              <a:buNone/>
            </a:pPr>
            <a:r>
              <a:rPr lang="en-US" sz="1100" dirty="0">
                <a:solidFill>
                  <a:srgbClr val="6B7280"/>
                </a:solidFill>
                <a:latin typeface="Calibri" pitchFamily="34" charset="0"/>
                <a:ea typeface="Calibri" pitchFamily="34" charset="-122"/>
                <a:cs typeface="Calibri" pitchFamily="34" charset="-120"/>
              </a:rPr>
              <a:t>GitHub Pages reads a locally-generated JSON snapshot. The public page never holds or calls with an API key.</a:t>
            </a:r>
            <a:endParaRPr lang="en-US" sz="1100" dirty="0"/>
          </a:p>
        </p:txBody>
      </p:sp>
      <p:sp>
        <p:nvSpPr>
          <p:cNvPr id="19" name="Shape 17"/>
          <p:cNvSpPr/>
          <p:nvPr/>
        </p:nvSpPr>
        <p:spPr>
          <a:xfrm>
            <a:off x="6217920" y="3886200"/>
            <a:ext cx="5440680" cy="1965960"/>
          </a:xfrm>
          <a:prstGeom prst="roundRect">
            <a:avLst>
              <a:gd name="adj" fmla="val 4651"/>
            </a:avLst>
          </a:prstGeom>
          <a:solidFill>
            <a:srgbClr val="FFFFFF"/>
          </a:solidFill>
          <a:ln w="12700">
            <a:solidFill>
              <a:srgbClr val="E5E7EB"/>
            </a:solidFill>
            <a:prstDash val="solid"/>
          </a:ln>
          <a:effectLst>
            <a:outerShdw sx="100000" sy="100000" kx="0" ky="0" algn="bl" rotWithShape="0" blurRad="76200" dist="25400" dir="5400000">
              <a:srgbClr val="1F2937">
                <a:alpha val="8000"/>
              </a:srgbClr>
            </a:outerShdw>
          </a:effectLst>
        </p:spPr>
      </p:sp>
      <p:sp>
        <p:nvSpPr>
          <p:cNvPr id="20" name="Shape 18"/>
          <p:cNvSpPr/>
          <p:nvPr/>
        </p:nvSpPr>
        <p:spPr>
          <a:xfrm>
            <a:off x="6492240" y="4160520"/>
            <a:ext cx="502920" cy="502920"/>
          </a:xfrm>
          <a:prstGeom prst="roundRect">
            <a:avLst>
              <a:gd name="adj" fmla="val 14545"/>
            </a:avLst>
          </a:prstGeom>
          <a:solidFill>
            <a:srgbClr val="0F766E"/>
          </a:solidFill>
          <a:ln/>
        </p:spPr>
      </p:sp>
      <p:sp>
        <p:nvSpPr>
          <p:cNvPr id="21" name="Text 19"/>
          <p:cNvSpPr/>
          <p:nvPr/>
        </p:nvSpPr>
        <p:spPr>
          <a:xfrm>
            <a:off x="6492240" y="4160520"/>
            <a:ext cx="502920" cy="50292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6492240" y="4800600"/>
            <a:ext cx="489204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Paper trading, hard-enforced</a:t>
            </a:r>
            <a:endParaRPr lang="en-US" sz="1400" dirty="0"/>
          </a:p>
        </p:txBody>
      </p:sp>
      <p:sp>
        <p:nvSpPr>
          <p:cNvPr id="23" name="Text 21"/>
          <p:cNvSpPr/>
          <p:nvPr/>
        </p:nvSpPr>
        <p:spPr>
          <a:xfrm>
            <a:off x="6492240" y="5166360"/>
            <a:ext cx="4892040" cy="594360"/>
          </a:xfrm>
          <a:prstGeom prst="rect">
            <a:avLst/>
          </a:prstGeom>
          <a:noFill/>
          <a:ln/>
        </p:spPr>
        <p:txBody>
          <a:bodyPr wrap="square" rtlCol="0" anchor="ctr"/>
          <a:lstStyle/>
          <a:p>
            <a:pPr indent="0" marL="0">
              <a:lnSpc>
                <a:spcPct val="115000"/>
              </a:lnSpc>
              <a:buNone/>
            </a:pPr>
            <a:r>
              <a:rPr lang="en-US" sz="1100" dirty="0">
                <a:solidFill>
                  <a:srgbClr val="6B7280"/>
                </a:solidFill>
                <a:latin typeface="Calibri" pitchFamily="34" charset="0"/>
                <a:ea typeface="Calibri" pitchFamily="34" charset="-122"/>
                <a:cs typeface="Calibri" pitchFamily="34" charset="-120"/>
              </a:rPr>
              <a:t>config.py refuses to run if ALPACA_LIVE_TRADE is set truthy. Zero real funds at risk, by construction.</a:t>
            </a:r>
            <a:endParaRPr lang="en-US" sz="1100" dirty="0"/>
          </a:p>
        </p:txBody>
      </p:sp>
      <p:sp>
        <p:nvSpPr>
          <p:cNvPr id="24" name="Text 22"/>
          <p:cNvSpPr/>
          <p:nvPr/>
        </p:nvSpPr>
        <p:spPr>
          <a:xfrm>
            <a:off x="548640" y="6446520"/>
            <a:ext cx="5486400" cy="32004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Hindsight Alpha  ·  Alpaca AI Trading Agents Hackathon</a:t>
            </a:r>
            <a:endParaRPr lang="en-US" sz="1000" dirty="0"/>
          </a:p>
        </p:txBody>
      </p:sp>
      <p:sp>
        <p:nvSpPr>
          <p:cNvPr id="25" name="Text 23"/>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1828800" y="3657600"/>
            <a:ext cx="5486400" cy="5486400"/>
          </a:xfrm>
          <a:prstGeom prst="ellipse">
            <a:avLst/>
          </a:prstGeom>
          <a:solidFill>
            <a:srgbClr val="1E2761">
              <a:alpha val="60000"/>
            </a:srgbClr>
          </a:solidFill>
          <a:ln/>
        </p:spPr>
      </p:sp>
      <p:sp>
        <p:nvSpPr>
          <p:cNvPr id="3" name="Text 1"/>
          <p:cNvSpPr/>
          <p:nvPr/>
        </p:nvSpPr>
        <p:spPr>
          <a:xfrm>
            <a:off x="640080" y="2011680"/>
            <a:ext cx="10058400" cy="100584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 bet on the agent, not the strategy</a:t>
            </a:r>
            <a:endParaRPr lang="en-US" sz="3800" dirty="0"/>
          </a:p>
        </p:txBody>
      </p:sp>
      <p:sp>
        <p:nvSpPr>
          <p:cNvPr id="4" name="Text 2"/>
          <p:cNvSpPr/>
          <p:nvPr/>
        </p:nvSpPr>
        <p:spPr>
          <a:xfrm>
            <a:off x="685800" y="3063240"/>
            <a:ext cx="8686800" cy="82296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The mechanism that refuses a false victory matters more than any single week's P&amp;L. Solo build, public source, live dashboard, MIT license.</a:t>
            </a:r>
            <a:endParaRPr lang="en-US" sz="1600" dirty="0"/>
          </a:p>
        </p:txBody>
      </p:sp>
      <p:sp>
        <p:nvSpPr>
          <p:cNvPr id="5" name="Text 3"/>
          <p:cNvSpPr/>
          <p:nvPr/>
        </p:nvSpPr>
        <p:spPr>
          <a:xfrm>
            <a:off x="685800" y="4206240"/>
            <a:ext cx="7315200" cy="411480"/>
          </a:xfrm>
          <a:prstGeom prst="rect">
            <a:avLst/>
          </a:prstGeom>
          <a:noFill/>
          <a:ln/>
        </p:spPr>
        <p:txBody>
          <a:bodyPr wrap="square"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Repo   </a:t>
            </a:r>
            <a:pPr indent="0" marL="0">
              <a:buNone/>
            </a:pPr>
            <a:r>
              <a:rPr lang="en-US" sz="1500" dirty="0">
                <a:solidFill>
                  <a:srgbClr val="FFFFFF"/>
                </a:solidFill>
                <a:latin typeface="Calibri" pitchFamily="34" charset="0"/>
                <a:ea typeface="Calibri" pitchFamily="34" charset="-122"/>
                <a:cs typeface="Calibri" pitchFamily="34" charset="-120"/>
              </a:rPr>
              <a:t>github.com/s-papy/hindsight-alpha</a:t>
            </a:r>
            <a:endParaRPr lang="en-US" sz="1500" dirty="0"/>
          </a:p>
        </p:txBody>
      </p:sp>
      <p:sp>
        <p:nvSpPr>
          <p:cNvPr id="6" name="Text 4"/>
          <p:cNvSpPr/>
          <p:nvPr/>
        </p:nvSpPr>
        <p:spPr>
          <a:xfrm>
            <a:off x="685800" y="4709160"/>
            <a:ext cx="7315200" cy="411480"/>
          </a:xfrm>
          <a:prstGeom prst="rect">
            <a:avLst/>
          </a:prstGeom>
          <a:noFill/>
          <a:ln/>
        </p:spPr>
        <p:txBody>
          <a:bodyPr wrap="square"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Dashboard   </a:t>
            </a:r>
            <a:pPr indent="0" marL="0">
              <a:buNone/>
            </a:pPr>
            <a:r>
              <a:rPr lang="en-US" sz="1500" dirty="0">
                <a:solidFill>
                  <a:srgbClr val="FFFFFF"/>
                </a:solidFill>
                <a:latin typeface="Calibri" pitchFamily="34" charset="0"/>
                <a:ea typeface="Calibri" pitchFamily="34" charset="-122"/>
                <a:cs typeface="Calibri" pitchFamily="34" charset="-120"/>
              </a:rPr>
              <a:t>s-papy.github.io/hindsight-alpha</a:t>
            </a:r>
            <a:endParaRPr lang="en-US" sz="1500" dirty="0"/>
          </a:p>
        </p:txBody>
      </p:sp>
      <p:sp>
        <p:nvSpPr>
          <p:cNvPr id="7" name="Text 5"/>
          <p:cNvSpPr/>
          <p:nvPr/>
        </p:nvSpPr>
        <p:spPr>
          <a:xfrm>
            <a:off x="685800" y="5212080"/>
            <a:ext cx="7315200" cy="411480"/>
          </a:xfrm>
          <a:prstGeom prst="rect">
            <a:avLst/>
          </a:prstGeom>
          <a:noFill/>
          <a:ln/>
        </p:spPr>
        <p:txBody>
          <a:bodyPr wrap="square"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License   </a:t>
            </a:r>
            <a:pPr indent="0" marL="0">
              <a:buNone/>
            </a:pPr>
            <a:r>
              <a:rPr lang="en-US" sz="1500" dirty="0">
                <a:solidFill>
                  <a:srgbClr val="FFFFFF"/>
                </a:solidFill>
                <a:latin typeface="Calibri" pitchFamily="34" charset="0"/>
                <a:ea typeface="Calibri" pitchFamily="34" charset="-122"/>
                <a:cs typeface="Calibri" pitchFamily="34" charset="-120"/>
              </a:rPr>
              <a:t>MIT</a:t>
            </a:r>
            <a:endParaRPr lang="en-US" sz="1500" dirty="0"/>
          </a:p>
        </p:txBody>
      </p:sp>
      <p:sp>
        <p:nvSpPr>
          <p:cNvPr id="8" name="Text 6"/>
          <p:cNvSpPr/>
          <p:nvPr/>
        </p:nvSpPr>
        <p:spPr>
          <a:xfrm>
            <a:off x="685800" y="5943600"/>
            <a:ext cx="5486400" cy="54864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Thank you.</a:t>
            </a:r>
            <a:endParaRPr lang="en-US" sz="2000" dirty="0"/>
          </a:p>
        </p:txBody>
      </p:sp>
      <p:sp>
        <p:nvSpPr>
          <p:cNvPr id="9" name="Text 7"/>
          <p:cNvSpPr/>
          <p:nvPr/>
        </p:nvSpPr>
        <p:spPr>
          <a:xfrm>
            <a:off x="11475720" y="6446520"/>
            <a:ext cx="548640" cy="32004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2026-08-24T19:17:22Z</dcterms:created>
  <dcterms:modified xsi:type="dcterms:W3CDTF">2026-08-24T19:17:22Z</dcterms:modified>
</cp:coreProperties>
</file>