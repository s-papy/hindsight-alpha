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10-day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WHY THIS ANGLE IS RARE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Verified against the field, not assumed</a:t>
            </a:r>
            <a:endParaRPr lang="en-US" sz="3200" dirty="0"/>
          </a:p>
        </p:txBody>
      </p:sp>
      <p:sp>
        <p:nvSpPr>
          <p:cNvPr id="4" name="Shape 2"/>
          <p:cNvSpPr/>
          <p:nvPr/>
        </p:nvSpPr>
        <p:spPr>
          <a:xfrm>
            <a:off x="548640" y="1691640"/>
            <a:ext cx="1417320" cy="1051560"/>
          </a:xfrm>
          <a:prstGeom prst="roundRect">
            <a:avLst>
              <a:gd name="adj" fmla="val 8696"/>
            </a:avLst>
          </a:prstGeom>
          <a:solidFill>
            <a:srgbClr val="F4F6FB"/>
          </a:solidFill>
          <a:ln w="15875">
            <a:solidFill>
              <a:srgbClr val="0F766E"/>
            </a:solidFill>
            <a:prstDash val="solid"/>
          </a:ln>
        </p:spPr>
      </p:sp>
      <p:sp>
        <p:nvSpPr>
          <p:cNvPr id="5" name="Text 3"/>
          <p:cNvSpPr/>
          <p:nvPr/>
        </p:nvSpPr>
        <p:spPr>
          <a:xfrm>
            <a:off x="548640" y="169164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546</a:t>
            </a:r>
            <a:endParaRPr lang="en-US" sz="3000" dirty="0"/>
          </a:p>
        </p:txBody>
      </p:sp>
      <p:sp>
        <p:nvSpPr>
          <p:cNvPr id="6" name="Text 4"/>
          <p:cNvSpPr/>
          <p:nvPr/>
        </p:nvSpPr>
        <p:spPr>
          <a:xfrm>
            <a:off x="2194560" y="176479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teams registered for this hackathon at time of check — but a prior lablab event with the same format saw only 17% of registered teams reach a final submission.</a:t>
            </a:r>
            <a:endParaRPr lang="en-US" sz="1400" dirty="0"/>
          </a:p>
        </p:txBody>
      </p:sp>
      <p:sp>
        <p:nvSpPr>
          <p:cNvPr id="7" name="Shape 5"/>
          <p:cNvSpPr/>
          <p:nvPr/>
        </p:nvSpPr>
        <p:spPr>
          <a:xfrm>
            <a:off x="548640" y="3017520"/>
            <a:ext cx="1417320" cy="1051560"/>
          </a:xfrm>
          <a:prstGeom prst="roundRect">
            <a:avLst>
              <a:gd name="adj" fmla="val 8696"/>
            </a:avLst>
          </a:prstGeom>
          <a:solidFill>
            <a:srgbClr val="F4F6FB"/>
          </a:solidFill>
          <a:ln w="15875">
            <a:solidFill>
              <a:srgbClr val="0F766E"/>
            </a:solidFill>
            <a:prstDash val="solid"/>
          </a:ln>
        </p:spPr>
      </p:sp>
      <p:sp>
        <p:nvSpPr>
          <p:cNvPr id="8" name="Text 6"/>
          <p:cNvSpPr/>
          <p:nvPr/>
        </p:nvSpPr>
        <p:spPr>
          <a:xfrm>
            <a:off x="548640" y="301752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0</a:t>
            </a:r>
            <a:endParaRPr lang="en-US" sz="3000" dirty="0"/>
          </a:p>
        </p:txBody>
      </p:sp>
      <p:sp>
        <p:nvSpPr>
          <p:cNvPr id="9" name="Text 7"/>
          <p:cNvSpPr/>
          <p:nvPr/>
        </p:nvSpPr>
        <p:spPr>
          <a:xfrm>
            <a:off x="2194560" y="309067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competing submissions found (across this event and its predecessor) that falsify their own parameter selection before trading — confidence usually comes from an LLM explaining its own decision, not a statistical test.</a:t>
            </a:r>
            <a:endParaRPr lang="en-US" sz="1400" dirty="0"/>
          </a:p>
        </p:txBody>
      </p:sp>
      <p:sp>
        <p:nvSpPr>
          <p:cNvPr id="10" name="Shape 8"/>
          <p:cNvSpPr/>
          <p:nvPr/>
        </p:nvSpPr>
        <p:spPr>
          <a:xfrm>
            <a:off x="548640" y="4343400"/>
            <a:ext cx="1417320" cy="1051560"/>
          </a:xfrm>
          <a:prstGeom prst="roundRect">
            <a:avLst>
              <a:gd name="adj" fmla="val 8696"/>
            </a:avLst>
          </a:prstGeom>
          <a:solidFill>
            <a:srgbClr val="F4F6FB"/>
          </a:solidFill>
          <a:ln w="15875">
            <a:solidFill>
              <a:srgbClr val="0F766E"/>
            </a:solidFill>
            <a:prstDash val="solid"/>
          </a:ln>
        </p:spPr>
      </p:sp>
      <p:sp>
        <p:nvSpPr>
          <p:cNvPr id="11" name="Text 9"/>
          <p:cNvSpPr/>
          <p:nvPr/>
        </p:nvSpPr>
        <p:spPr>
          <a:xfrm>
            <a:off x="548640" y="434340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3×</a:t>
            </a:r>
            <a:endParaRPr lang="en-US" sz="3000" dirty="0"/>
          </a:p>
        </p:txBody>
      </p:sp>
      <p:sp>
        <p:nvSpPr>
          <p:cNvPr id="12" name="Text 10"/>
          <p:cNvSpPr/>
          <p:nvPr/>
        </p:nvSpPr>
        <p:spPr>
          <a:xfrm>
            <a:off x="2194560" y="441655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independent refusal gates stacked before any order: hindsight check → volatility regime → portfolio risk gates — not one signal dressed up as three.</a:t>
            </a:r>
            <a:endParaRPr lang="en-US" sz="1400" dirty="0"/>
          </a:p>
        </p:txBody>
      </p:sp>
      <p:sp>
        <p:nvSpPr>
          <p:cNvPr id="13" name="Text 11"/>
          <p:cNvSpPr/>
          <p:nvPr/>
        </p:nvSpPr>
        <p:spPr>
          <a:xfrm>
            <a:off x="548640" y="5806440"/>
            <a:ext cx="10972800" cy="64008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A community-voted top submission from the predecessor event was a plain feature list with no strategy detail — presentation and demo clarity matter as much as depth. This deck and the write-up lead with honesty about results, not a headline number.</a:t>
            </a:r>
            <a:endParaRPr lang="en-US" sz="1250" dirty="0"/>
          </a:p>
        </p:txBody>
      </p:sp>
      <p:sp>
        <p:nvSpPr>
          <p:cNvPr id="14" name="Text 1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5" name="Text 1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drawdown from start</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 and there is no week-boundary reset.</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No threshold touched after seeing these numbers.</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guard's own blind spot</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_sharpe() returned 0.0 when it could not measure — a zero indistinguishable from a measured one. On a truncated feed, hindsight_guard certified a selection in which one candidate window had never been scored at all: "winner matches, clears the threshold". A candidate that could not be scored is not a candidate that lost.</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control that checked strings, not behaviour</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pre-commit guard for "paper trading only" searched config.py for two words. Deleting the live-trading refusal outright left it green. It now runs the code and reads the answer — a cap that isn't checked in code is a policy, and so is a check that isn't checked.</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timed-out order counted as failed</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CLI call has a 30-second timeout. An order whose answer never came back was treated as not sent: the duplicate-order guard was left unarmed, and the run sized its next trade as if that money were free. A timeout does not mean "failed" — it means "unknown".</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